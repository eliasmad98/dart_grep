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2" r:id="rId4"/>
    <p:sldId id="259" r:id="rId5"/>
    <p:sldId id="260" r:id="rId6"/>
    <p:sldId id="273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-462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9131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5862" y="593085"/>
            <a:ext cx="4914900" cy="2290371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>
              <a:lnSpc>
                <a:spcPts val="4500"/>
              </a:lnSpc>
            </a:pPr>
            <a:r>
              <a:rPr lang="en-US" sz="3600" b="1" kern="0" spc="-2" dirty="0">
                <a:solidFill>
                  <a:srgbClr val="000000"/>
                </a:solidFill>
              </a:rPr>
              <a:t>Dart :</a:t>
            </a:r>
          </a:p>
          <a:p>
            <a:pPr>
              <a:lnSpc>
                <a:spcPts val="4500"/>
              </a:lnSpc>
            </a:pPr>
            <a:r>
              <a:rPr lang="en-US" sz="3600" b="1" kern="0" spc="-2" dirty="0">
                <a:solidFill>
                  <a:srgbClr val="000000"/>
                </a:solidFill>
              </a:rPr>
              <a:t>History, Design, and a</a:t>
            </a:r>
          </a:p>
          <a:p>
            <a:pPr>
              <a:lnSpc>
                <a:spcPts val="4500"/>
              </a:lnSpc>
            </a:pPr>
            <a:r>
              <a:rPr lang="en-US" sz="3600" b="1" kern="0" spc="-2" dirty="0">
                <a:solidFill>
                  <a:srgbClr val="000000"/>
                </a:solidFill>
              </a:rPr>
              <a:t>Recursive File Search Case Study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71500" y="3083198"/>
            <a:ext cx="3657600" cy="551433"/>
          </a:xfrm>
          <a:prstGeom prst="rect">
            <a:avLst/>
          </a:prstGeom>
          <a:noFill/>
          <a:ln/>
        </p:spPr>
        <p:txBody>
          <a:bodyPr wrap="square" lIns="425196" tIns="0" rIns="0" bIns="0" rtlCol="0" anchor="t">
            <a:spAutoFit/>
          </a:bodyPr>
          <a:lstStyle/>
          <a:p>
            <a:pPr>
              <a:lnSpc>
                <a:spcPts val="2200"/>
              </a:lnSpc>
            </a:pPr>
            <a:r>
              <a:rPr lang="en-US" sz="1704" dirty="0">
                <a:solidFill>
                  <a:srgbClr val="333333"/>
                </a:solidFill>
              </a:rPr>
              <a:t>An Academic Seminar Programming Languages in Comparison</a:t>
            </a:r>
            <a:endParaRPr lang="en-US" sz="1704" dirty="0"/>
          </a:p>
        </p:txBody>
      </p:sp>
      <p:sp>
        <p:nvSpPr>
          <p:cNvPr id="5" name="Text 2"/>
          <p:cNvSpPr/>
          <p:nvPr/>
        </p:nvSpPr>
        <p:spPr>
          <a:xfrm>
            <a:off x="571500" y="4422651"/>
            <a:ext cx="4914900" cy="168508"/>
          </a:xfrm>
          <a:prstGeom prst="rect">
            <a:avLst/>
          </a:prstGeom>
          <a:noFill/>
          <a:ln/>
        </p:spPr>
        <p:txBody>
          <a:bodyPr wrap="square" lIns="425196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87" b="1" kern="0" spc="2" dirty="0">
                <a:solidFill>
                  <a:srgbClr val="000000"/>
                </a:solidFill>
              </a:rPr>
              <a:t>Elias Madfouni | Siegen University |</a:t>
            </a:r>
            <a:r>
              <a:rPr lang="en-US" sz="1000" dirty="0">
                <a:solidFill>
                  <a:srgbClr val="333333"/>
                </a:solidFill>
              </a:rPr>
              <a:t>February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7" name="Shape 4"/>
          <p:cNvSpPr/>
          <p:nvPr/>
        </p:nvSpPr>
        <p:spPr>
          <a:xfrm>
            <a:off x="6065044" y="1321594"/>
            <a:ext cx="2500313" cy="250031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B50E8EB3-1EBB-08ED-FA15-6104415F3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8675" y="1418813"/>
            <a:ext cx="2289463" cy="22894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71500"/>
            <a:ext cx="49149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The Identity of Dart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551980"/>
            <a:ext cx="393506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kern="0" spc="1" dirty="0">
                <a:solidFill>
                  <a:srgbClr val="0053B3"/>
                </a:solidFill>
              </a:rPr>
              <a:t>Origin</a:t>
            </a:r>
            <a:endParaRPr lang="en-US" sz="683" dirty="0"/>
          </a:p>
        </p:txBody>
      </p:sp>
      <p:sp>
        <p:nvSpPr>
          <p:cNvPr id="5" name="Text 2"/>
          <p:cNvSpPr/>
          <p:nvPr/>
        </p:nvSpPr>
        <p:spPr>
          <a:xfrm>
            <a:off x="571500" y="1723430"/>
            <a:ext cx="4486275" cy="2200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000000"/>
                </a:solidFill>
              </a:rPr>
              <a:t>Developed by Google (Lars Bak &amp; Kasper Lund) in 2011.</a:t>
            </a:r>
            <a:endParaRPr lang="en-US" sz="1159" dirty="0"/>
          </a:p>
        </p:txBody>
      </p:sp>
      <p:sp>
        <p:nvSpPr>
          <p:cNvPr id="6" name="Text 3"/>
          <p:cNvSpPr/>
          <p:nvPr/>
        </p:nvSpPr>
        <p:spPr>
          <a:xfrm>
            <a:off x="571500" y="2272047"/>
            <a:ext cx="684418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kern="0" spc="1" dirty="0">
                <a:solidFill>
                  <a:srgbClr val="0053B3"/>
                </a:solidFill>
              </a:rPr>
              <a:t>Initial</a:t>
            </a:r>
            <a:r>
              <a:rPr lang="en-US" sz="683" b="1" kern="0" spc="1" dirty="0">
                <a:solidFill>
                  <a:srgbClr val="0053B3"/>
                </a:solidFill>
              </a:rPr>
              <a:t> </a:t>
            </a:r>
            <a:r>
              <a:rPr lang="en-US" sz="1200" b="1" kern="0" spc="1" dirty="0">
                <a:solidFill>
                  <a:srgbClr val="0053B3"/>
                </a:solidFill>
              </a:rPr>
              <a:t>Goal</a:t>
            </a:r>
          </a:p>
        </p:txBody>
      </p:sp>
      <p:sp>
        <p:nvSpPr>
          <p:cNvPr id="7" name="Text 4"/>
          <p:cNvSpPr/>
          <p:nvPr/>
        </p:nvSpPr>
        <p:spPr>
          <a:xfrm>
            <a:off x="571500" y="2443497"/>
            <a:ext cx="4486275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000000"/>
                </a:solidFill>
              </a:rPr>
              <a:t>To replace JavaScript as the "structured" language for the web.</a:t>
            </a:r>
            <a:endParaRPr lang="en-US" sz="1159" dirty="0"/>
          </a:p>
        </p:txBody>
      </p:sp>
      <p:sp>
        <p:nvSpPr>
          <p:cNvPr id="8" name="Text 5"/>
          <p:cNvSpPr/>
          <p:nvPr/>
        </p:nvSpPr>
        <p:spPr>
          <a:xfrm>
            <a:off x="571500" y="3212120"/>
            <a:ext cx="1180644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ts val="900"/>
              </a:lnSpc>
            </a:pPr>
            <a:r>
              <a:rPr lang="en-US" sz="1200" b="1" kern="0" spc="1" dirty="0">
                <a:solidFill>
                  <a:srgbClr val="0053B3"/>
                </a:solidFill>
              </a:rPr>
              <a:t>The</a:t>
            </a:r>
            <a:r>
              <a:rPr lang="en-US" sz="683" b="1" kern="0" spc="1" dirty="0">
                <a:solidFill>
                  <a:srgbClr val="0053B3"/>
                </a:solidFill>
              </a:rPr>
              <a:t> </a:t>
            </a:r>
            <a:r>
              <a:rPr lang="en-US" sz="1200" b="1" kern="0" spc="1" dirty="0">
                <a:solidFill>
                  <a:srgbClr val="0053B3"/>
                </a:solidFill>
              </a:rPr>
              <a:t>Strategic Pivot</a:t>
            </a:r>
          </a:p>
        </p:txBody>
      </p:sp>
      <p:sp>
        <p:nvSpPr>
          <p:cNvPr id="9" name="Text 6"/>
          <p:cNvSpPr/>
          <p:nvPr/>
        </p:nvSpPr>
        <p:spPr>
          <a:xfrm>
            <a:off x="571500" y="3383570"/>
            <a:ext cx="4486275" cy="39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333333"/>
                </a:solidFill>
              </a:rPr>
              <a:t>Evolved from a web-only experiment to a "client-optimized" powerhouse. Now the primary engine behind the Flutter framework.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1500" y="4152193"/>
            <a:ext cx="905889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kern="0" spc="1" dirty="0">
                <a:solidFill>
                  <a:srgbClr val="0053B3"/>
                </a:solidFill>
              </a:rPr>
              <a:t>Current</a:t>
            </a:r>
            <a:r>
              <a:rPr lang="en-US" sz="683" b="1" kern="0" spc="1" dirty="0">
                <a:solidFill>
                  <a:srgbClr val="0053B3"/>
                </a:solidFill>
              </a:rPr>
              <a:t> </a:t>
            </a:r>
            <a:r>
              <a:rPr lang="en-US" sz="1200" b="1" kern="0" spc="1" dirty="0">
                <a:solidFill>
                  <a:srgbClr val="0053B3"/>
                </a:solidFill>
              </a:rPr>
              <a:t>Status</a:t>
            </a:r>
          </a:p>
        </p:txBody>
      </p:sp>
      <p:sp>
        <p:nvSpPr>
          <p:cNvPr id="11" name="Text 8"/>
          <p:cNvSpPr/>
          <p:nvPr/>
        </p:nvSpPr>
        <p:spPr>
          <a:xfrm>
            <a:off x="571500" y="4323643"/>
            <a:ext cx="4486275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000000"/>
                </a:solidFill>
              </a:rPr>
              <a:t>The engine behind </a:t>
            </a:r>
            <a:r>
              <a:rPr lang="en-US" sz="1090" b="1" dirty="0">
                <a:solidFill>
                  <a:srgbClr val="000000"/>
                </a:solidFill>
              </a:rPr>
              <a:t>Flutter</a:t>
            </a:r>
            <a:r>
              <a:rPr lang="en-US" sz="1159" dirty="0">
                <a:solidFill>
                  <a:srgbClr val="000000"/>
                </a:solidFill>
              </a:rPr>
              <a:t>, powering millions of cross-platform apps.</a:t>
            </a:r>
            <a:endParaRPr lang="en-US" sz="1159" dirty="0"/>
          </a:p>
        </p:txBody>
      </p:sp>
      <p:sp>
        <p:nvSpPr>
          <p:cNvPr id="12" name="Shape 9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3" name="Shape 10"/>
          <p:cNvSpPr/>
          <p:nvPr/>
        </p:nvSpPr>
        <p:spPr>
          <a:xfrm>
            <a:off x="6065044" y="1321594"/>
            <a:ext cx="2500313" cy="250031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638" y="1500188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79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107156" cy="40898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Historical Context: From "Dash" to Dart 3.0</a:t>
            </a:r>
            <a:endParaRPr lang="en-US" sz="2121" dirty="0"/>
          </a:p>
        </p:txBody>
      </p:sp>
      <p:sp>
        <p:nvSpPr>
          <p:cNvPr id="6" name="Shape 3"/>
          <p:cNvSpPr/>
          <p:nvPr/>
        </p:nvSpPr>
        <p:spPr>
          <a:xfrm>
            <a:off x="571500" y="1237655"/>
            <a:ext cx="3600450" cy="95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71500" y="1237655"/>
            <a:ext cx="3600450" cy="5715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8" name="Text 5"/>
          <p:cNvSpPr/>
          <p:nvPr/>
        </p:nvSpPr>
        <p:spPr>
          <a:xfrm>
            <a:off x="714375" y="1323380"/>
            <a:ext cx="33147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2011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714375" y="1585913"/>
            <a:ext cx="33147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The "Dash" Era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714375" y="1837730"/>
            <a:ext cx="331470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Unveiled at GOTO Aarhus. Born from a "crisis of scale" in web development (Gmail/Maps).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4972050" y="2249165"/>
            <a:ext cx="3600450" cy="95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4972050" y="2249165"/>
            <a:ext cx="3600450" cy="5715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3" name="Text 10"/>
          <p:cNvSpPr/>
          <p:nvPr/>
        </p:nvSpPr>
        <p:spPr>
          <a:xfrm>
            <a:off x="5114925" y="2334890"/>
            <a:ext cx="33147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2011-2017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5114925" y="2597423"/>
            <a:ext cx="33147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The "Dark Ages"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5114925" y="2849240"/>
            <a:ext cx="331470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Browser vendors rejected the native VM; Google pivoted to compilation (dart2js) and ECMA standardization.</a:t>
            </a:r>
            <a:endParaRPr lang="en-US" sz="834" dirty="0"/>
          </a:p>
        </p:txBody>
      </p:sp>
      <p:sp>
        <p:nvSpPr>
          <p:cNvPr id="16" name="Shape 13"/>
          <p:cNvSpPr/>
          <p:nvPr/>
        </p:nvSpPr>
        <p:spPr>
          <a:xfrm>
            <a:off x="571500" y="3260675"/>
            <a:ext cx="3600450" cy="95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71500" y="3260675"/>
            <a:ext cx="3600450" cy="5715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8" name="Text 15"/>
          <p:cNvSpPr/>
          <p:nvPr/>
        </p:nvSpPr>
        <p:spPr>
          <a:xfrm>
            <a:off x="714375" y="3346400"/>
            <a:ext cx="33147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2018</a:t>
            </a:r>
            <a:endParaRPr lang="en-US" sz="1193" dirty="0"/>
          </a:p>
        </p:txBody>
      </p:sp>
      <p:sp>
        <p:nvSpPr>
          <p:cNvPr id="19" name="Text 16"/>
          <p:cNvSpPr/>
          <p:nvPr/>
        </p:nvSpPr>
        <p:spPr>
          <a:xfrm>
            <a:off x="714375" y="3608933"/>
            <a:ext cx="33147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The Rebirth (Dart 2.0)</a:t>
            </a:r>
            <a:endParaRPr lang="en-US" sz="987" dirty="0"/>
          </a:p>
        </p:txBody>
      </p:sp>
      <p:sp>
        <p:nvSpPr>
          <p:cNvPr id="20" name="Text 17"/>
          <p:cNvSpPr/>
          <p:nvPr/>
        </p:nvSpPr>
        <p:spPr>
          <a:xfrm>
            <a:off x="714375" y="3860750"/>
            <a:ext cx="331470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Shifted to a sound static type system. Aligned with the rise of Flutter for cross-platform UI.</a:t>
            </a:r>
            <a:endParaRPr lang="en-US" sz="834" dirty="0"/>
          </a:p>
        </p:txBody>
      </p:sp>
      <p:sp>
        <p:nvSpPr>
          <p:cNvPr id="21" name="Shape 18"/>
          <p:cNvSpPr/>
          <p:nvPr/>
        </p:nvSpPr>
        <p:spPr>
          <a:xfrm>
            <a:off x="4972050" y="4272186"/>
            <a:ext cx="3600450" cy="95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972050" y="4272186"/>
            <a:ext cx="3600450" cy="5715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3" name="Text 20"/>
          <p:cNvSpPr/>
          <p:nvPr/>
        </p:nvSpPr>
        <p:spPr>
          <a:xfrm>
            <a:off x="5114925" y="4357911"/>
            <a:ext cx="33147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2023</a:t>
            </a:r>
            <a:endParaRPr lang="en-US" sz="1193" dirty="0"/>
          </a:p>
        </p:txBody>
      </p:sp>
      <p:sp>
        <p:nvSpPr>
          <p:cNvPr id="24" name="Text 21"/>
          <p:cNvSpPr/>
          <p:nvPr/>
        </p:nvSpPr>
        <p:spPr>
          <a:xfrm>
            <a:off x="5114925" y="4620444"/>
            <a:ext cx="33147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Modern Era (Dart 3.0)</a:t>
            </a:r>
            <a:endParaRPr lang="en-US" sz="987" dirty="0"/>
          </a:p>
        </p:txBody>
      </p:sp>
      <p:sp>
        <p:nvSpPr>
          <p:cNvPr id="25" name="Text 22"/>
          <p:cNvSpPr/>
          <p:nvPr/>
        </p:nvSpPr>
        <p:spPr>
          <a:xfrm>
            <a:off x="5114925" y="4872261"/>
            <a:ext cx="3314700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Mandatory Sound Null Safety, WebAssembly (Wasm) support, and 100% soundness.</a:t>
            </a:r>
            <a:endParaRPr lang="en-US" sz="83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Core Design: The Dual-Compilation Model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123355"/>
            <a:ext cx="1843088" cy="575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JIT (Development)</a:t>
            </a:r>
            <a:endParaRPr lang="en-US" sz="1397" dirty="0"/>
          </a:p>
        </p:txBody>
      </p:sp>
      <p:sp>
        <p:nvSpPr>
          <p:cNvPr id="5" name="Text 2"/>
          <p:cNvSpPr/>
          <p:nvPr/>
        </p:nvSpPr>
        <p:spPr>
          <a:xfrm>
            <a:off x="571500" y="1984177"/>
            <a:ext cx="18430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Just-In-Time</a:t>
            </a:r>
            <a:endParaRPr lang="en-US" sz="987" dirty="0"/>
          </a:p>
        </p:txBody>
      </p:sp>
      <p:sp>
        <p:nvSpPr>
          <p:cNvPr id="6" name="Text 3"/>
          <p:cNvSpPr/>
          <p:nvPr/>
        </p:nvSpPr>
        <p:spPr>
          <a:xfrm>
            <a:off x="571500" y="2235994"/>
            <a:ext cx="184308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Used during the development cycle. Code is compiled on the fly within the Dart VM.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571500" y="2957513"/>
            <a:ext cx="18430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Hot Reload</a:t>
            </a:r>
            <a:endParaRPr lang="en-US" sz="987" dirty="0"/>
          </a:p>
        </p:txBody>
      </p:sp>
      <p:sp>
        <p:nvSpPr>
          <p:cNvPr id="8" name="Text 5"/>
          <p:cNvSpPr/>
          <p:nvPr/>
        </p:nvSpPr>
        <p:spPr>
          <a:xfrm>
            <a:off x="571500" y="3209330"/>
            <a:ext cx="1843088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Enables sub-second iteration by injecting source code changes into a running application without losing state.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2700338" y="1711821"/>
            <a:ext cx="3743325" cy="2600325"/>
          </a:xfrm>
          <a:prstGeom prst="rect">
            <a:avLst/>
          </a:prstGeom>
          <a:solidFill>
            <a:srgbClr val="FFFFFF"/>
          </a:solidFill>
          <a:ln w="18288">
            <a:solidFill>
              <a:srgbClr val="0053B3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6063" y="1797546"/>
            <a:ext cx="3571875" cy="250031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96937" y="4405015"/>
            <a:ext cx="235009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i="1" dirty="0">
                <a:solidFill>
                  <a:srgbClr val="666666"/>
                </a:solidFill>
              </a:rPr>
              <a:t>Visualizing Build Modes: Debug (JIT) vs. Release (AOT)</a:t>
            </a:r>
            <a:endParaRPr lang="en-US" sz="727" dirty="0"/>
          </a:p>
        </p:txBody>
      </p:sp>
      <p:sp>
        <p:nvSpPr>
          <p:cNvPr id="12" name="Text 8"/>
          <p:cNvSpPr/>
          <p:nvPr/>
        </p:nvSpPr>
        <p:spPr>
          <a:xfrm>
            <a:off x="6715125" y="1123355"/>
            <a:ext cx="1857375" cy="575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AOT (Production)</a:t>
            </a:r>
            <a:endParaRPr lang="en-US" sz="1397" dirty="0"/>
          </a:p>
        </p:txBody>
      </p:sp>
      <p:sp>
        <p:nvSpPr>
          <p:cNvPr id="13" name="Text 9"/>
          <p:cNvSpPr/>
          <p:nvPr/>
        </p:nvSpPr>
        <p:spPr>
          <a:xfrm>
            <a:off x="6715125" y="1984177"/>
            <a:ext cx="18573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Ahead-Of-Time</a:t>
            </a:r>
            <a:endParaRPr lang="en-US" sz="987" dirty="0"/>
          </a:p>
        </p:txBody>
      </p:sp>
      <p:sp>
        <p:nvSpPr>
          <p:cNvPr id="14" name="Text 10"/>
          <p:cNvSpPr/>
          <p:nvPr/>
        </p:nvSpPr>
        <p:spPr>
          <a:xfrm>
            <a:off x="6715125" y="2235994"/>
            <a:ext cx="1857375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Used for production deployment. Compiles code directly to native machine code (ARM/x64).</a:t>
            </a:r>
            <a:endParaRPr lang="en-US" sz="942" dirty="0"/>
          </a:p>
        </p:txBody>
      </p:sp>
      <p:sp>
        <p:nvSpPr>
          <p:cNvPr id="15" name="Text 11"/>
          <p:cNvSpPr/>
          <p:nvPr/>
        </p:nvSpPr>
        <p:spPr>
          <a:xfrm>
            <a:off x="6715125" y="3150394"/>
            <a:ext cx="18573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Performance</a:t>
            </a:r>
            <a:endParaRPr lang="en-US" sz="987" dirty="0"/>
          </a:p>
        </p:txBody>
      </p:sp>
      <p:sp>
        <p:nvSpPr>
          <p:cNvPr id="16" name="Text 12"/>
          <p:cNvSpPr/>
          <p:nvPr/>
        </p:nvSpPr>
        <p:spPr>
          <a:xfrm>
            <a:off x="6715125" y="3402211"/>
            <a:ext cx="1857375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Eliminates VM warm-up time, ensuring fast startup and consistent runtime performance on user devices.</a:t>
            </a:r>
            <a:endParaRPr lang="en-US" sz="942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214688" cy="5143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2500313" cy="848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The Modern
Type System
&amp; Null Safety</a:t>
            </a:r>
            <a:endParaRPr lang="en-US" sz="1808" dirty="0"/>
          </a:p>
        </p:txBody>
      </p:sp>
      <p:sp>
        <p:nvSpPr>
          <p:cNvPr id="5" name="Text 2"/>
          <p:cNvSpPr/>
          <p:nvPr/>
        </p:nvSpPr>
        <p:spPr>
          <a:xfrm>
            <a:off x="428625" y="1848752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Soundness</a:t>
            </a:r>
            <a:endParaRPr lang="en-US" sz="683" dirty="0"/>
          </a:p>
        </p:txBody>
      </p:sp>
      <p:sp>
        <p:nvSpPr>
          <p:cNvPr id="6" name="Text 3"/>
          <p:cNvSpPr/>
          <p:nvPr/>
        </p:nvSpPr>
        <p:spPr>
          <a:xfrm>
            <a:off x="428625" y="2020202"/>
            <a:ext cx="25003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Guaranteed types at runtime if static analysis passes.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428625" y="2663140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Reified Generics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428625" y="2834590"/>
            <a:ext cx="25003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Generic types are preserved and known at runtime.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3786188" y="571500"/>
            <a:ext cx="1711263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Technical Impact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3786188" y="1398389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Sound Null Safety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3786188" y="1664494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Types are non-nullable by default, eliminating the "Billion Dollar Mistake" (Null Pointer Exceptions) at both compile and runtime.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786188" y="2300288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Compiler Optimizations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3786188" y="2566392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Soundness allows the compiler to remove defensive runtime checks, leading to smaller binaries and faster execution.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3786188" y="3202186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Type Inference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3786188" y="3468291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Provides a balance between type safety and developer productivity, allowing for concise yet robust code.</a:t>
            </a:r>
            <a:endParaRPr lang="en-US" sz="94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The Modern Type System &amp; Null Safety</a:t>
            </a:r>
            <a:endParaRPr lang="en-US" sz="2121" dirty="0"/>
          </a:p>
        </p:txBody>
      </p:sp>
      <p:sp>
        <p:nvSpPr>
          <p:cNvPr id="4" name="Shape 1"/>
          <p:cNvSpPr/>
          <p:nvPr/>
        </p:nvSpPr>
        <p:spPr>
          <a:xfrm>
            <a:off x="571500" y="1266230"/>
            <a:ext cx="2400300" cy="3214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266230"/>
            <a:ext cx="2400300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6" name="Text 3"/>
          <p:cNvSpPr/>
          <p:nvPr/>
        </p:nvSpPr>
        <p:spPr>
          <a:xfrm>
            <a:off x="750094" y="1480542"/>
            <a:ext cx="2043113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Type
Soundness</a:t>
            </a:r>
            <a:endParaRPr lang="en-US" sz="1397" dirty="0"/>
          </a:p>
        </p:txBody>
      </p:sp>
      <p:sp>
        <p:nvSpPr>
          <p:cNvPr id="7" name="Text 4"/>
          <p:cNvSpPr/>
          <p:nvPr/>
        </p:nvSpPr>
        <p:spPr>
          <a:xfrm>
            <a:off x="750094" y="2063428"/>
            <a:ext cx="20431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Dart 2.0 introduced a </a:t>
            </a:r>
            <a:r>
              <a:rPr lang="en-US" sz="784" b="1" dirty="0">
                <a:solidFill>
                  <a:srgbClr val="333333"/>
                </a:solidFill>
              </a:rPr>
              <a:t>sound static type system</a:t>
            </a:r>
            <a:r>
              <a:rPr lang="en-US" sz="834" dirty="0">
                <a:solidFill>
                  <a:srgbClr val="333333"/>
                </a:solidFill>
              </a:rPr>
              <a:t>. If the static analyzer passes, the type is guaranteed at runtime.</a:t>
            </a:r>
            <a:endParaRPr lang="en-US" sz="834" dirty="0"/>
          </a:p>
        </p:txBody>
      </p:sp>
      <p:sp>
        <p:nvSpPr>
          <p:cNvPr id="8" name="Text 5"/>
          <p:cNvSpPr/>
          <p:nvPr/>
        </p:nvSpPr>
        <p:spPr>
          <a:xfrm>
            <a:off x="750094" y="2892103"/>
            <a:ext cx="20431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Benefit</a:t>
            </a:r>
            <a:endParaRPr lang="en-US" sz="885" dirty="0"/>
          </a:p>
        </p:txBody>
      </p:sp>
      <p:sp>
        <p:nvSpPr>
          <p:cNvPr id="9" name="Text 6"/>
          <p:cNvSpPr/>
          <p:nvPr/>
        </p:nvSpPr>
        <p:spPr>
          <a:xfrm>
            <a:off x="750094" y="3138562"/>
            <a:ext cx="20431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Enables the AOT compiler to generate highly optimized machine code by removing redundant runtime type checks.</a:t>
            </a:r>
            <a:endParaRPr lang="en-US" sz="834" dirty="0"/>
          </a:p>
        </p:txBody>
      </p:sp>
      <p:sp>
        <p:nvSpPr>
          <p:cNvPr id="10" name="Shape 7"/>
          <p:cNvSpPr/>
          <p:nvPr/>
        </p:nvSpPr>
        <p:spPr>
          <a:xfrm>
            <a:off x="3371850" y="1266230"/>
            <a:ext cx="2400300" cy="3214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371850" y="1266230"/>
            <a:ext cx="2400300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2" name="Text 9"/>
          <p:cNvSpPr/>
          <p:nvPr/>
        </p:nvSpPr>
        <p:spPr>
          <a:xfrm>
            <a:off x="3550444" y="1480542"/>
            <a:ext cx="2043113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Reified
Generics</a:t>
            </a:r>
            <a:endParaRPr lang="en-US" sz="1397" dirty="0"/>
          </a:p>
        </p:txBody>
      </p:sp>
      <p:sp>
        <p:nvSpPr>
          <p:cNvPr id="13" name="Text 10"/>
          <p:cNvSpPr/>
          <p:nvPr/>
        </p:nvSpPr>
        <p:spPr>
          <a:xfrm>
            <a:off x="3550444" y="2063428"/>
            <a:ext cx="20431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Unlike Java's Type Erasure, Dart preserves generic types at runtime. A List&lt;String&gt; is known as such during execution.</a:t>
            </a:r>
            <a:endParaRPr lang="en-US" sz="834" dirty="0"/>
          </a:p>
        </p:txBody>
      </p:sp>
      <p:sp>
        <p:nvSpPr>
          <p:cNvPr id="14" name="Text 11"/>
          <p:cNvSpPr/>
          <p:nvPr/>
        </p:nvSpPr>
        <p:spPr>
          <a:xfrm>
            <a:off x="3550444" y="2892103"/>
            <a:ext cx="20431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Advantage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3550444" y="3138562"/>
            <a:ext cx="20431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Allows for robust runtime type checking (is List&lt;String&gt;) and specialized VM optimizations for specific types.</a:t>
            </a:r>
            <a:endParaRPr lang="en-US" sz="834" dirty="0"/>
          </a:p>
        </p:txBody>
      </p:sp>
      <p:sp>
        <p:nvSpPr>
          <p:cNvPr id="16" name="Shape 13"/>
          <p:cNvSpPr/>
          <p:nvPr/>
        </p:nvSpPr>
        <p:spPr>
          <a:xfrm>
            <a:off x="6172200" y="1266230"/>
            <a:ext cx="2400300" cy="3214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6172200" y="1266230"/>
            <a:ext cx="2400300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8" name="Text 15"/>
          <p:cNvSpPr/>
          <p:nvPr/>
        </p:nvSpPr>
        <p:spPr>
          <a:xfrm>
            <a:off x="6350794" y="1480542"/>
            <a:ext cx="2043113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Sound Null
Safety</a:t>
            </a:r>
            <a:endParaRPr lang="en-US" sz="1397" dirty="0"/>
          </a:p>
        </p:txBody>
      </p:sp>
      <p:sp>
        <p:nvSpPr>
          <p:cNvPr id="19" name="Text 16"/>
          <p:cNvSpPr/>
          <p:nvPr/>
        </p:nvSpPr>
        <p:spPr>
          <a:xfrm>
            <a:off x="6350794" y="2063428"/>
            <a:ext cx="20431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Introduced in Dart 2.12, types are </a:t>
            </a:r>
            <a:r>
              <a:rPr lang="en-US" sz="784" b="1" dirty="0">
                <a:solidFill>
                  <a:srgbClr val="333333"/>
                </a:solidFill>
              </a:rPr>
              <a:t>non-nullable by default</a:t>
            </a:r>
            <a:r>
              <a:rPr lang="en-US" sz="834" dirty="0">
                <a:solidFill>
                  <a:srgbClr val="333333"/>
                </a:solidFill>
              </a:rPr>
              <a:t>. Nullability must be explicitly declared.</a:t>
            </a:r>
            <a:endParaRPr lang="en-US" sz="834" dirty="0"/>
          </a:p>
        </p:txBody>
      </p:sp>
      <p:sp>
        <p:nvSpPr>
          <p:cNvPr id="20" name="Shape 17"/>
          <p:cNvSpPr/>
          <p:nvPr/>
        </p:nvSpPr>
        <p:spPr>
          <a:xfrm>
            <a:off x="6350794" y="2684934"/>
            <a:ext cx="2043113" cy="3429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1" name="Shape 18"/>
          <p:cNvSpPr/>
          <p:nvPr/>
        </p:nvSpPr>
        <p:spPr>
          <a:xfrm>
            <a:off x="6350794" y="2684934"/>
            <a:ext cx="28575" cy="3429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9"/>
          <p:cNvSpPr/>
          <p:nvPr/>
        </p:nvSpPr>
        <p:spPr>
          <a:xfrm>
            <a:off x="6350794" y="2684934"/>
            <a:ext cx="2043113" cy="342900"/>
          </a:xfrm>
          <a:prstGeom prst="rect">
            <a:avLst/>
          </a:prstGeom>
          <a:noFill/>
          <a:ln/>
        </p:spPr>
        <p:txBody>
          <a:bodyPr wrap="square" lIns="85090" tIns="85090" rIns="8509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000000"/>
                </a:solidFill>
              </a:rPr>
              <a:t>String name = 'Dart';
 String? nick; // Nullable</a:t>
            </a:r>
            <a:endParaRPr lang="en-US" sz="727" dirty="0"/>
          </a:p>
        </p:txBody>
      </p:sp>
      <p:sp>
        <p:nvSpPr>
          <p:cNvPr id="23" name="Text 20"/>
          <p:cNvSpPr/>
          <p:nvPr/>
        </p:nvSpPr>
        <p:spPr>
          <a:xfrm>
            <a:off x="6350794" y="3170709"/>
            <a:ext cx="20431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Impact</a:t>
            </a:r>
            <a:endParaRPr lang="en-US" sz="885" dirty="0"/>
          </a:p>
        </p:txBody>
      </p:sp>
      <p:sp>
        <p:nvSpPr>
          <p:cNvPr id="24" name="Text 21"/>
          <p:cNvSpPr/>
          <p:nvPr/>
        </p:nvSpPr>
        <p:spPr>
          <a:xfrm>
            <a:off x="6350794" y="3417168"/>
            <a:ext cx="20431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Eliminates "Billion Dollar Mistake" exceptions and allows the compiler to strip null-check overhead.</a:t>
            </a:r>
            <a:endParaRPr lang="en-US" sz="83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71500"/>
            <a:ext cx="4629150" cy="660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Advanced Architecture:
Concurrency &amp; Startup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588759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Isolates (Shared-Nothing)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571500" y="1874509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Independent workers with their own memory heaps. Communication via message passing (Actor model) eliminates locks and data races.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71500" y="2474584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The Event Loop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571500" y="2760334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Manages Microtask and Event queues. Ensures responsive I/O and UI by processing asynchronous events without blocking.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571500" y="3360409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Heap Snapshotting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571500" y="3646159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Serializes the initialized object graph into a binary. Achieves </a:t>
            </a:r>
            <a:r>
              <a:rPr lang="en-US" sz="885" b="1" dirty="0">
                <a:solidFill>
                  <a:srgbClr val="333333"/>
                </a:solidFill>
              </a:rPr>
              <a:t>&lt; 10ms startup</a:t>
            </a:r>
            <a:r>
              <a:rPr lang="en-US" sz="942" dirty="0">
                <a:solidFill>
                  <a:srgbClr val="333333"/>
                </a:solidFill>
              </a:rPr>
              <a:t> by map-copying snapshots directly to RAM.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5600700" y="857250"/>
            <a:ext cx="2857500" cy="2143125"/>
          </a:xfrm>
          <a:prstGeom prst="rect">
            <a:avLst/>
          </a:prstGeom>
          <a:solidFill>
            <a:srgbClr val="FFFFFF"/>
          </a:solidFill>
          <a:ln w="18288">
            <a:solidFill>
              <a:srgbClr val="0053B3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138" y="928688"/>
            <a:ext cx="2714625" cy="2000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3107531"/>
            <a:ext cx="30861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i="1" dirty="0">
                <a:solidFill>
                  <a:srgbClr val="666666"/>
                </a:solidFill>
              </a:rPr>
              <a:t>Visualizing the underlying compilation architecture supporting rapid startup.</a:t>
            </a:r>
            <a:endParaRPr lang="en-US" sz="72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Comparative Analysis: Dart vs. Peers</a:t>
            </a:r>
            <a:endParaRPr lang="en-US" sz="2121" dirty="0"/>
          </a:p>
        </p:txBody>
      </p:sp>
      <p:sp>
        <p:nvSpPr>
          <p:cNvPr id="4" name="Shape 1"/>
          <p:cNvSpPr/>
          <p:nvPr/>
        </p:nvSpPr>
        <p:spPr>
          <a:xfrm>
            <a:off x="571500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6" name="Text 3"/>
          <p:cNvSpPr/>
          <p:nvPr/>
        </p:nvSpPr>
        <p:spPr>
          <a:xfrm>
            <a:off x="750094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vs.
JavaScript</a:t>
            </a:r>
            <a:endParaRPr lang="en-US" sz="1397" dirty="0"/>
          </a:p>
        </p:txBody>
      </p:sp>
      <p:sp>
        <p:nvSpPr>
          <p:cNvPr id="7" name="Text 4"/>
          <p:cNvSpPr/>
          <p:nvPr/>
        </p:nvSpPr>
        <p:spPr>
          <a:xfrm>
            <a:off x="750094" y="2063428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Type System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750094" y="2234878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Sound Static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Dynamic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750094" y="2636351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Runtime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750094" y="2807801"/>
            <a:ext cx="216692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Independent VM/AOT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Browser JIT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750094" y="3389291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Ecosystem</a:t>
            </a:r>
            <a:endParaRPr lang="en-US" sz="683" dirty="0"/>
          </a:p>
        </p:txBody>
      </p:sp>
      <p:sp>
        <p:nvSpPr>
          <p:cNvPr id="12" name="Text 9"/>
          <p:cNvSpPr/>
          <p:nvPr/>
        </p:nvSpPr>
        <p:spPr>
          <a:xfrm>
            <a:off x="750094" y="3560741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Curated (Pub)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Massive (NPM)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3309928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309928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5" name="Text 12"/>
          <p:cNvSpPr/>
          <p:nvPr/>
        </p:nvSpPr>
        <p:spPr>
          <a:xfrm>
            <a:off x="3488522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vs.
Java</a:t>
            </a:r>
            <a:endParaRPr lang="en-US" sz="1397" dirty="0"/>
          </a:p>
        </p:txBody>
      </p:sp>
      <p:sp>
        <p:nvSpPr>
          <p:cNvPr id="16" name="Text 13"/>
          <p:cNvSpPr/>
          <p:nvPr/>
        </p:nvSpPr>
        <p:spPr>
          <a:xfrm>
            <a:off x="3488522" y="2063428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Generics</a:t>
            </a:r>
            <a:endParaRPr lang="en-US" sz="683" dirty="0"/>
          </a:p>
        </p:txBody>
      </p:sp>
      <p:sp>
        <p:nvSpPr>
          <p:cNvPr id="17" name="Text 14"/>
          <p:cNvSpPr/>
          <p:nvPr/>
        </p:nvSpPr>
        <p:spPr>
          <a:xfrm>
            <a:off x="3488522" y="2234878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Reified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Erasure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3488522" y="2636351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Syntax</a:t>
            </a:r>
            <a:endParaRPr lang="en-US" sz="683" dirty="0"/>
          </a:p>
        </p:txBody>
      </p:sp>
      <p:sp>
        <p:nvSpPr>
          <p:cNvPr id="19" name="Text 16"/>
          <p:cNvSpPr/>
          <p:nvPr/>
        </p:nvSpPr>
        <p:spPr>
          <a:xfrm>
            <a:off x="3488522" y="2807801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Concise/Inferred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Verbose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3488522" y="3209274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Null Safety</a:t>
            </a:r>
            <a:endParaRPr lang="en-US" sz="683" dirty="0"/>
          </a:p>
        </p:txBody>
      </p:sp>
      <p:sp>
        <p:nvSpPr>
          <p:cNvPr id="21" name="Text 18"/>
          <p:cNvSpPr/>
          <p:nvPr/>
        </p:nvSpPr>
        <p:spPr>
          <a:xfrm>
            <a:off x="3488522" y="3380724"/>
            <a:ext cx="216692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Sound/Built-in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Optional/Annotations</a:t>
            </a:r>
            <a:endParaRPr lang="en-US" sz="942" dirty="0"/>
          </a:p>
        </p:txBody>
      </p:sp>
      <p:sp>
        <p:nvSpPr>
          <p:cNvPr id="22" name="Shape 19"/>
          <p:cNvSpPr/>
          <p:nvPr/>
        </p:nvSpPr>
        <p:spPr>
          <a:xfrm>
            <a:off x="6048356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0"/>
          <p:cNvSpPr/>
          <p:nvPr/>
        </p:nvSpPr>
        <p:spPr>
          <a:xfrm>
            <a:off x="6048356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4" name="Text 21"/>
          <p:cNvSpPr/>
          <p:nvPr/>
        </p:nvSpPr>
        <p:spPr>
          <a:xfrm>
            <a:off x="6226950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vs.
Python</a:t>
            </a:r>
            <a:endParaRPr lang="en-US" sz="1397" dirty="0"/>
          </a:p>
        </p:txBody>
      </p:sp>
      <p:sp>
        <p:nvSpPr>
          <p:cNvPr id="25" name="Text 22"/>
          <p:cNvSpPr/>
          <p:nvPr/>
        </p:nvSpPr>
        <p:spPr>
          <a:xfrm>
            <a:off x="6226950" y="2063428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Performance</a:t>
            </a:r>
            <a:endParaRPr lang="en-US" sz="683" dirty="0"/>
          </a:p>
        </p:txBody>
      </p:sp>
      <p:sp>
        <p:nvSpPr>
          <p:cNvPr id="26" name="Text 23"/>
          <p:cNvSpPr/>
          <p:nvPr/>
        </p:nvSpPr>
        <p:spPr>
          <a:xfrm>
            <a:off x="6226950" y="2234878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AOT Native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Interpreted</a:t>
            </a:r>
            <a:endParaRPr lang="en-US" sz="942" dirty="0"/>
          </a:p>
        </p:txBody>
      </p:sp>
      <p:sp>
        <p:nvSpPr>
          <p:cNvPr id="27" name="Text 24"/>
          <p:cNvSpPr/>
          <p:nvPr/>
        </p:nvSpPr>
        <p:spPr>
          <a:xfrm>
            <a:off x="6226950" y="2636351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Safety</a:t>
            </a:r>
            <a:endParaRPr lang="en-US" sz="683" dirty="0"/>
          </a:p>
        </p:txBody>
      </p:sp>
      <p:sp>
        <p:nvSpPr>
          <p:cNvPr id="28" name="Text 25"/>
          <p:cNvSpPr/>
          <p:nvPr/>
        </p:nvSpPr>
        <p:spPr>
          <a:xfrm>
            <a:off x="6226950" y="2807801"/>
            <a:ext cx="216692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Compile-time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Runtime Discovery</a:t>
            </a:r>
            <a:endParaRPr lang="en-US" sz="942" dirty="0"/>
          </a:p>
        </p:txBody>
      </p:sp>
      <p:sp>
        <p:nvSpPr>
          <p:cNvPr id="29" name="Text 26"/>
          <p:cNvSpPr/>
          <p:nvPr/>
        </p:nvSpPr>
        <p:spPr>
          <a:xfrm>
            <a:off x="6226950" y="3389291"/>
            <a:ext cx="216692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666666"/>
                </a:solidFill>
              </a:rPr>
              <a:t>Concurrency</a:t>
            </a:r>
            <a:endParaRPr lang="en-US" sz="683" dirty="0"/>
          </a:p>
        </p:txBody>
      </p:sp>
      <p:sp>
        <p:nvSpPr>
          <p:cNvPr id="30" name="Text 27"/>
          <p:cNvSpPr/>
          <p:nvPr/>
        </p:nvSpPr>
        <p:spPr>
          <a:xfrm>
            <a:off x="6226950" y="3560741"/>
            <a:ext cx="216692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Isolates </a:t>
            </a:r>
            <a:r>
              <a:rPr lang="en-US" sz="885" b="1" dirty="0">
                <a:solidFill>
                  <a:srgbClr val="0053B3"/>
                </a:solidFill>
              </a:rPr>
              <a:t>vs</a:t>
            </a:r>
            <a:r>
              <a:rPr lang="en-US" sz="942" dirty="0">
                <a:solidFill>
                  <a:srgbClr val="333333"/>
                </a:solidFill>
              </a:rPr>
              <a:t> GIL/Threads</a:t>
            </a:r>
            <a:endParaRPr lang="en-US" sz="942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Memory Management: Generational GC</a:t>
            </a:r>
            <a:endParaRPr lang="en-US" sz="2121" dirty="0"/>
          </a:p>
        </p:txBody>
      </p:sp>
      <p:sp>
        <p:nvSpPr>
          <p:cNvPr id="4" name="Shape 1"/>
          <p:cNvSpPr/>
          <p:nvPr/>
        </p:nvSpPr>
        <p:spPr>
          <a:xfrm>
            <a:off x="571500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6" name="Text 3"/>
          <p:cNvSpPr/>
          <p:nvPr/>
        </p:nvSpPr>
        <p:spPr>
          <a:xfrm>
            <a:off x="750094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Young Space
(Scavenger)</a:t>
            </a:r>
            <a:endParaRPr lang="en-US" sz="1397" dirty="0"/>
          </a:p>
        </p:txBody>
      </p:sp>
      <p:sp>
        <p:nvSpPr>
          <p:cNvPr id="7" name="Text 4"/>
          <p:cNvSpPr/>
          <p:nvPr/>
        </p:nvSpPr>
        <p:spPr>
          <a:xfrm>
            <a:off x="750094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Fast Allocation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750094" y="2295599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Uses bump pointers for near-instant allocation. Optimized for short-lived objects like UI widgets.</a:t>
            </a:r>
            <a:endParaRPr lang="en-US" sz="834" dirty="0"/>
          </a:p>
        </p:txBody>
      </p:sp>
      <p:sp>
        <p:nvSpPr>
          <p:cNvPr id="9" name="Text 6"/>
          <p:cNvSpPr/>
          <p:nvPr/>
        </p:nvSpPr>
        <p:spPr>
          <a:xfrm>
            <a:off x="750094" y="295282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Efficient Collection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750094" y="318499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Only survives objects are copied, making it extremely fast for typical client-side workloads.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3309928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309928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3" name="Text 10"/>
          <p:cNvSpPr/>
          <p:nvPr/>
        </p:nvSpPr>
        <p:spPr>
          <a:xfrm>
            <a:off x="3488522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Old Space
(Mark-Compact)</a:t>
            </a:r>
            <a:endParaRPr lang="en-US" sz="1397" dirty="0"/>
          </a:p>
        </p:txBody>
      </p:sp>
      <p:sp>
        <p:nvSpPr>
          <p:cNvPr id="14" name="Text 11"/>
          <p:cNvSpPr/>
          <p:nvPr/>
        </p:nvSpPr>
        <p:spPr>
          <a:xfrm>
            <a:off x="3488522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Long-Lived Objects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3488522" y="2295599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Handles objects that survive multiple scavenger cycles. Uses mark-sweep and mark-compact strategies.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3488522" y="295282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Fragmentation Control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3488522" y="318499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Compaction ensures memory remains contiguous, preventing fragmentation in long-running applications.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6048356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048356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0" name="Text 17"/>
          <p:cNvSpPr/>
          <p:nvPr/>
        </p:nvSpPr>
        <p:spPr>
          <a:xfrm>
            <a:off x="6226950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Canonical
Instances</a:t>
            </a:r>
            <a:endParaRPr lang="en-US" sz="1397" dirty="0"/>
          </a:p>
        </p:txBody>
      </p:sp>
      <p:sp>
        <p:nvSpPr>
          <p:cNvPr id="21" name="Text 18"/>
          <p:cNvSpPr/>
          <p:nvPr/>
        </p:nvSpPr>
        <p:spPr>
          <a:xfrm>
            <a:off x="6226950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Memory Optimization</a:t>
            </a:r>
            <a:endParaRPr lang="en-US" sz="885" dirty="0"/>
          </a:p>
        </p:txBody>
      </p:sp>
      <p:sp>
        <p:nvSpPr>
          <p:cNvPr id="22" name="Text 19"/>
          <p:cNvSpPr/>
          <p:nvPr/>
        </p:nvSpPr>
        <p:spPr>
          <a:xfrm>
            <a:off x="6226950" y="2295599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const constructors allow identical objects to share a single memory location.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6226950" y="295282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GC Pressure Reduction</a:t>
            </a:r>
            <a:endParaRPr lang="en-US" sz="885" dirty="0"/>
          </a:p>
        </p:txBody>
      </p:sp>
      <p:sp>
        <p:nvSpPr>
          <p:cNvPr id="24" name="Text 21"/>
          <p:cNvSpPr/>
          <p:nvPr/>
        </p:nvSpPr>
        <p:spPr>
          <a:xfrm>
            <a:off x="6226950" y="318499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Dramatically reduces the number of objects the GC needs to track in high-frequency rendering scenarios.</a:t>
            </a:r>
            <a:endParaRPr lang="en-US" sz="834" dirty="0"/>
          </a:p>
        </p:txBody>
      </p:sp>
      <p:sp>
        <p:nvSpPr>
          <p:cNvPr id="25" name="Shape 22"/>
          <p:cNvSpPr/>
          <p:nvPr/>
        </p:nvSpPr>
        <p:spPr>
          <a:xfrm>
            <a:off x="571500" y="4552355"/>
            <a:ext cx="8001000" cy="571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6" name="Text 23"/>
          <p:cNvSpPr/>
          <p:nvPr/>
        </p:nvSpPr>
        <p:spPr>
          <a:xfrm>
            <a:off x="785813" y="4729525"/>
            <a:ext cx="7572375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Unified Strategy:</a:t>
            </a:r>
            <a:r>
              <a:rPr lang="en-US" sz="942" dirty="0">
                <a:solidFill>
                  <a:srgbClr val="FFFFFF"/>
                </a:solidFill>
              </a:rPr>
              <a:t> Dart's GC is specifically tuned for the high-frequency object creation patterns of modern reactive UI frameworks.</a:t>
            </a:r>
            <a:endParaRPr lang="en-US" sz="88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Infrastructure &amp; Ecosystem</a:t>
            </a:r>
            <a:endParaRPr lang="en-US" sz="2121" dirty="0"/>
          </a:p>
        </p:txBody>
      </p:sp>
      <p:sp>
        <p:nvSpPr>
          <p:cNvPr id="4" name="Shape 1"/>
          <p:cNvSpPr/>
          <p:nvPr/>
        </p:nvSpPr>
        <p:spPr>
          <a:xfrm>
            <a:off x="571500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6" name="Text 3"/>
          <p:cNvSpPr/>
          <p:nvPr/>
        </p:nvSpPr>
        <p:spPr>
          <a:xfrm>
            <a:off x="750094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Pub
Package Manager</a:t>
            </a:r>
            <a:endParaRPr lang="en-US" sz="1397" dirty="0"/>
          </a:p>
        </p:txBody>
      </p:sp>
      <p:sp>
        <p:nvSpPr>
          <p:cNvPr id="7" name="Text 4"/>
          <p:cNvSpPr/>
          <p:nvPr/>
        </p:nvSpPr>
        <p:spPr>
          <a:xfrm>
            <a:off x="750094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Centralized Repository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750094" y="2295599"/>
            <a:ext cx="216692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pub.dev hosts 55,000+ packages. Uses semantic versioning via pubspec.yaml.</a:t>
            </a:r>
            <a:endParaRPr lang="en-US" sz="834" dirty="0"/>
          </a:p>
        </p:txBody>
      </p:sp>
      <p:sp>
        <p:nvSpPr>
          <p:cNvPr id="9" name="Text 6"/>
          <p:cNvSpPr/>
          <p:nvPr/>
        </p:nvSpPr>
        <p:spPr>
          <a:xfrm>
            <a:off x="750094" y="278137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Pub Points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750094" y="301354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Automated scoring system for code quality, documentation, and platform support.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3309928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309928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3" name="Text 10"/>
          <p:cNvSpPr/>
          <p:nvPr/>
        </p:nvSpPr>
        <p:spPr>
          <a:xfrm>
            <a:off x="3488522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Analysis
Server</a:t>
            </a:r>
            <a:endParaRPr lang="en-US" sz="1397" dirty="0"/>
          </a:p>
        </p:txBody>
      </p:sp>
      <p:sp>
        <p:nvSpPr>
          <p:cNvPr id="14" name="Text 11"/>
          <p:cNvSpPr/>
          <p:nvPr/>
        </p:nvSpPr>
        <p:spPr>
          <a:xfrm>
            <a:off x="3488522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SDK-Level Intelligence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3488522" y="2295599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Language logic lives in the SDK, not the IDE plugin. Uses LSP for communication.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3488522" y="295282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Consistency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3488522" y="318499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Identical refactoring and error highlighting across VS Code, IntelliJ, and Android Studio.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6048356" y="1266230"/>
            <a:ext cx="2524116" cy="300037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048356" y="1266230"/>
            <a:ext cx="2524116" cy="85725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0" name="Text 17"/>
          <p:cNvSpPr/>
          <p:nvPr/>
        </p:nvSpPr>
        <p:spPr>
          <a:xfrm>
            <a:off x="6226950" y="1480542"/>
            <a:ext cx="2166928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Dart
DevTools</a:t>
            </a:r>
            <a:endParaRPr lang="en-US" sz="1397" dirty="0"/>
          </a:p>
        </p:txBody>
      </p:sp>
      <p:sp>
        <p:nvSpPr>
          <p:cNvPr id="21" name="Text 18"/>
          <p:cNvSpPr/>
          <p:nvPr/>
        </p:nvSpPr>
        <p:spPr>
          <a:xfrm>
            <a:off x="6226950" y="2063428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Performance Suite</a:t>
            </a:r>
            <a:endParaRPr lang="en-US" sz="885" dirty="0"/>
          </a:p>
        </p:txBody>
      </p:sp>
      <p:sp>
        <p:nvSpPr>
          <p:cNvPr id="22" name="Text 19"/>
          <p:cNvSpPr/>
          <p:nvPr/>
        </p:nvSpPr>
        <p:spPr>
          <a:xfrm>
            <a:off x="6226950" y="2295599"/>
            <a:ext cx="216692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Browser-based tools connecting via the VM Service Protocol.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6226950" y="2781374"/>
            <a:ext cx="21669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0000"/>
                </a:solidFill>
              </a:rPr>
              <a:t>Core Features</a:t>
            </a:r>
            <a:endParaRPr lang="en-US" sz="885" dirty="0"/>
          </a:p>
        </p:txBody>
      </p:sp>
      <p:sp>
        <p:nvSpPr>
          <p:cNvPr id="24" name="Text 21"/>
          <p:cNvSpPr/>
          <p:nvPr/>
        </p:nvSpPr>
        <p:spPr>
          <a:xfrm>
            <a:off x="6226950" y="3013546"/>
            <a:ext cx="21669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CPU Profiler, Memory View (Heap Snapshots), and the Flutter Widget Inspector.</a:t>
            </a:r>
            <a:endParaRPr lang="en-US" sz="834" dirty="0"/>
          </a:p>
        </p:txBody>
      </p:sp>
      <p:sp>
        <p:nvSpPr>
          <p:cNvPr id="25" name="Shape 22"/>
          <p:cNvSpPr/>
          <p:nvPr/>
        </p:nvSpPr>
        <p:spPr>
          <a:xfrm>
            <a:off x="571500" y="4552355"/>
            <a:ext cx="8001000" cy="571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26" name="Text 23"/>
          <p:cNvSpPr/>
          <p:nvPr/>
        </p:nvSpPr>
        <p:spPr>
          <a:xfrm>
            <a:off x="785813" y="4729525"/>
            <a:ext cx="7572375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Unified Toolchain:</a:t>
            </a:r>
            <a:r>
              <a:rPr lang="en-US" sz="942" dirty="0">
                <a:solidFill>
                  <a:srgbClr val="FFFFFF"/>
                </a:solidFill>
              </a:rPr>
              <a:t> Dart provides a "complete" experience where the compiler, package manager, and analyzer are tightly integrated.</a:t>
            </a:r>
            <a:endParaRPr lang="en-US" sz="88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214688" cy="5143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2500313" cy="1131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Case Study:
Recursive
File Searcher
(Grep Clone)</a:t>
            </a:r>
            <a:endParaRPr lang="en-US" sz="1808" dirty="0"/>
          </a:p>
        </p:txBody>
      </p:sp>
      <p:sp>
        <p:nvSpPr>
          <p:cNvPr id="5" name="Text 2"/>
          <p:cNvSpPr/>
          <p:nvPr/>
        </p:nvSpPr>
        <p:spPr>
          <a:xfrm>
            <a:off x="428625" y="2131628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Objective</a:t>
            </a:r>
            <a:endParaRPr lang="en-US" sz="683" dirty="0"/>
          </a:p>
        </p:txBody>
      </p:sp>
      <p:sp>
        <p:nvSpPr>
          <p:cNvPr id="6" name="Text 3"/>
          <p:cNvSpPr/>
          <p:nvPr/>
        </p:nvSpPr>
        <p:spPr>
          <a:xfrm>
            <a:off x="428625" y="2303078"/>
            <a:ext cx="2500313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Evaluate Dart for high-performance CLI tasks typically reserved for C++ or Rust.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428625" y="3160328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Constraint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428625" y="3331778"/>
            <a:ext cx="2500313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Zero external dependencies; rely solely on the standard library.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3786188" y="571500"/>
            <a:ext cx="3289976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Architecture: Streaming Pipeline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3786188" y="1398389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Asynchronous Recursion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3786188" y="1664494"/>
            <a:ext cx="4786313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Utilizes dir.list() returning a Stream&lt;FileSystemEntity&gt;. Non-blocking traversal ensures the event loop remains responsive during heavy I/O.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786188" y="2493169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Memory Safety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3786188" y="2759273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Processes multi-gigabyte files in 64KB chunks. Discards strings immediately after regex matching to maintain a constant footprint.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3786188" y="3430786"/>
            <a:ext cx="2085082" cy="714375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964781" y="3573661"/>
            <a:ext cx="1727895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53B3"/>
                </a:solidFill>
              </a:rPr>
              <a:t>30-50MB RAM</a:t>
            </a:r>
            <a:endParaRPr lang="en-US" sz="1602" dirty="0"/>
          </a:p>
        </p:txBody>
      </p:sp>
      <p:sp>
        <p:nvSpPr>
          <p:cNvPr id="16" name="Text 13"/>
          <p:cNvSpPr/>
          <p:nvPr/>
        </p:nvSpPr>
        <p:spPr>
          <a:xfrm>
            <a:off x="3964781" y="3886200"/>
            <a:ext cx="172789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kern="0" spc="1" dirty="0">
                <a:solidFill>
                  <a:srgbClr val="FFFFFF"/>
                </a:solidFill>
              </a:rPr>
              <a:t>Constant Memory Footprint</a:t>
            </a:r>
            <a:endParaRPr lang="en-US" sz="72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214688" cy="514350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2500313" cy="848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Implementation:
What Helped
Us</a:t>
            </a:r>
            <a:endParaRPr lang="en-US" sz="1808" dirty="0"/>
          </a:p>
        </p:txBody>
      </p:sp>
      <p:sp>
        <p:nvSpPr>
          <p:cNvPr id="5" name="Text 2"/>
          <p:cNvSpPr/>
          <p:nvPr/>
        </p:nvSpPr>
        <p:spPr>
          <a:xfrm>
            <a:off x="428625" y="1848752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Async Primitives</a:t>
            </a:r>
            <a:endParaRPr lang="en-US" sz="683" dirty="0"/>
          </a:p>
        </p:txBody>
      </p:sp>
      <p:sp>
        <p:nvSpPr>
          <p:cNvPr id="6" name="Text 3"/>
          <p:cNvSpPr/>
          <p:nvPr/>
        </p:nvSpPr>
        <p:spPr>
          <a:xfrm>
            <a:off x="428625" y="2020202"/>
            <a:ext cx="25003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async/await and Stream made non-blocking I/O trivial.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428625" y="2663140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Standard Library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428625" y="2834590"/>
            <a:ext cx="2500313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dart:io and dart:convert provided 100% of required functionality.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3786188" y="571500"/>
            <a:ext cx="1711263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Technical Impact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3786188" y="1398389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Sound Type System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3786188" y="1664494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Caught nullable file handling and type mismatches during development, significantly reducing runtime debugging cycles.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786188" y="2300288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RegExp Support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3786188" y="2566392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Powerful, built-in regular expression engine with easy case-sensitivity control, enabling high-performance pattern matching.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3786188" y="3202186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Zero Dependencies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3786188" y="3468291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The "batteries-included" nature of the SDK allowed for a self-contained binary without external package fatigue.</a:t>
            </a:r>
            <a:endParaRPr lang="en-US" sz="942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1136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214688" cy="5211366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2500313" cy="848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Implementation:
Challenges
&amp; Lessons</a:t>
            </a:r>
            <a:endParaRPr lang="en-US" sz="1808" dirty="0"/>
          </a:p>
        </p:txBody>
      </p:sp>
      <p:sp>
        <p:nvSpPr>
          <p:cNvPr id="5" name="Text 2"/>
          <p:cNvSpPr/>
          <p:nvPr/>
        </p:nvSpPr>
        <p:spPr>
          <a:xfrm>
            <a:off x="428625" y="1848752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Encoding Hurdles</a:t>
            </a:r>
            <a:endParaRPr lang="en-US" sz="683" dirty="0"/>
          </a:p>
        </p:txBody>
      </p:sp>
      <p:sp>
        <p:nvSpPr>
          <p:cNvPr id="6" name="Text 3"/>
          <p:cNvSpPr/>
          <p:nvPr/>
        </p:nvSpPr>
        <p:spPr>
          <a:xfrm>
            <a:off x="428625" y="2020202"/>
            <a:ext cx="25003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Handling non-UTF8 bytes in "mostly text" files.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428625" y="2663140"/>
            <a:ext cx="250031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kern="0" spc="2" dirty="0">
                <a:solidFill>
                  <a:srgbClr val="F5F5F5">
                    <a:alpha val="80000"/>
                  </a:srgbClr>
                </a:solidFill>
              </a:rPr>
              <a:t>Binary Detection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428625" y="2834590"/>
            <a:ext cx="25003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</a:rPr>
              <a:t>Avoiding terminal flooding with "garbage" output.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3786188" y="571500"/>
            <a:ext cx="4786313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Technical Lessons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3786188" y="1398389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Robust File Reading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3786188" y="1664494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Utilizing allowMalformed: true in Utf8Decoder was critical to prevent crashes on mixed-content directories.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3786188" y="2300288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Performance Tuning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3786188" y="2566392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RegExp instantiation must occur outside loops to avoid massive overhead. Skipping minified files via MAX_LINE_LENGTH ensured high throughput.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3786188" y="3202186"/>
            <a:ext cx="478631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Graceful Exit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3786188" y="3468291"/>
            <a:ext cx="4786313" cy="3857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Handling FileSystemException for closed output pipes (e.g., grep | head) is essential for a professional CLI experience.</a:t>
            </a:r>
            <a:endParaRPr lang="en-US" sz="942" dirty="0"/>
          </a:p>
        </p:txBody>
      </p:sp>
      <p:sp>
        <p:nvSpPr>
          <p:cNvPr id="16" name="Shape 13"/>
          <p:cNvSpPr/>
          <p:nvPr/>
        </p:nvSpPr>
        <p:spPr>
          <a:xfrm>
            <a:off x="7500938" y="3854053"/>
            <a:ext cx="1071563" cy="1071563"/>
          </a:xfrm>
          <a:prstGeom prst="rect">
            <a:avLst/>
          </a:prstGeom>
          <a:solidFill>
            <a:srgbClr val="FFFFFF"/>
          </a:solidFill>
          <a:ln w="27432">
            <a:solidFill>
              <a:srgbClr val="0053B3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094" y="3961209"/>
            <a:ext cx="85725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71500"/>
            <a:ext cx="4629150" cy="990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Implementation Highlights
&amp; Optimization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918795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Binary Detection</a:t>
            </a:r>
            <a:endParaRPr lang="en-US" sz="1090" dirty="0"/>
          </a:p>
        </p:txBody>
      </p:sp>
      <p:sp>
        <p:nvSpPr>
          <p:cNvPr id="5" name="Text 2"/>
          <p:cNvSpPr/>
          <p:nvPr/>
        </p:nvSpPr>
        <p:spPr>
          <a:xfrm>
            <a:off x="571500" y="2204545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Heuristic check (first 8KB) for null bytes to avoid terminal "garbage" output. Ensures robust handling of mixed-content directories.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71500" y="2804620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Regex Pre-compilation</a:t>
            </a:r>
            <a:endParaRPr lang="en-US" sz="1090" dirty="0"/>
          </a:p>
        </p:txBody>
      </p:sp>
      <p:sp>
        <p:nvSpPr>
          <p:cNvPr id="7" name="Text 4"/>
          <p:cNvSpPr/>
          <p:nvPr/>
        </p:nvSpPr>
        <p:spPr>
          <a:xfrm>
            <a:off x="571500" y="3090370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Massive speedup by instantiating RegExp outside loops. Leverages Dart's optimized regex engine for high-throughput matching.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571500" y="3690445"/>
            <a:ext cx="4629150" cy="214313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53B3"/>
                </a:solidFill>
              </a:rPr>
              <a:t>AOT Performance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571500" y="3976195"/>
            <a:ext cx="4629150" cy="385763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Native binary execution with </a:t>
            </a:r>
            <a:r>
              <a:rPr lang="en-US" sz="885" b="1" dirty="0">
                <a:solidFill>
                  <a:srgbClr val="333333"/>
                </a:solidFill>
              </a:rPr>
              <a:t>&lt; 10ms startup</a:t>
            </a:r>
            <a:r>
              <a:rPr lang="en-US" sz="942" dirty="0">
                <a:solidFill>
                  <a:srgbClr val="333333"/>
                </a:solidFill>
              </a:rPr>
              <a:t>. Eliminates VM warm-up overhead, making Dart viable for high-performance CLI tools.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5600700" y="857250"/>
            <a:ext cx="2857500" cy="2143125"/>
          </a:xfrm>
          <a:prstGeom prst="rect">
            <a:avLst/>
          </a:prstGeom>
          <a:solidFill>
            <a:srgbClr val="FFFFFF"/>
          </a:solidFill>
          <a:ln w="18288">
            <a:solidFill>
              <a:srgbClr val="0053B3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138" y="928688"/>
            <a:ext cx="2714625" cy="2000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40422" y="3107531"/>
            <a:ext cx="2578029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i="1" dirty="0">
                <a:solidFill>
                  <a:srgbClr val="666666"/>
                </a:solidFill>
              </a:rPr>
              <a:t>Visualizing the AOT compilation process to native binaries.</a:t>
            </a:r>
            <a:endParaRPr lang="en-US" sz="727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Industry Adoption &amp; Use Cases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337667"/>
            <a:ext cx="2500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Google</a:t>
            </a:r>
            <a:endParaRPr lang="en-US" sz="1193" dirty="0"/>
          </a:p>
        </p:txBody>
      </p:sp>
      <p:sp>
        <p:nvSpPr>
          <p:cNvPr id="5" name="Text 2"/>
          <p:cNvSpPr/>
          <p:nvPr/>
        </p:nvSpPr>
        <p:spPr>
          <a:xfrm>
            <a:off x="571500" y="1628775"/>
            <a:ext cx="250031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Google Ads, Play Console, and Nest Hub setup. Mission-critical internal and external tools.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71500" y="2383138"/>
            <a:ext cx="2500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BMW Group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2674246"/>
            <a:ext cx="250031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Unified companion app across iOS and Android, ensuring 100% brand consistency and feature parity.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571500" y="3428609"/>
            <a:ext cx="25003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53B3"/>
                </a:solidFill>
              </a:rPr>
              <a:t>Alibaba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571500" y="3719717"/>
            <a:ext cx="250031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Xianyu (Idle Fish) app serving 50M+ users. High-performance rendering for e-commerce.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3357563" y="1266230"/>
            <a:ext cx="228600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CCCCC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337667"/>
            <a:ext cx="2143125" cy="307181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96916" y="4552355"/>
            <a:ext cx="120726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666666"/>
                </a:solidFill>
              </a:rPr>
              <a:t>Layered Architecture</a:t>
            </a:r>
            <a:endParaRPr lang="en-US" sz="683" dirty="0"/>
          </a:p>
        </p:txBody>
      </p:sp>
      <p:sp>
        <p:nvSpPr>
          <p:cNvPr id="13" name="Shape 9"/>
          <p:cNvSpPr/>
          <p:nvPr/>
        </p:nvSpPr>
        <p:spPr>
          <a:xfrm>
            <a:off x="5929313" y="1266230"/>
            <a:ext cx="3000375" cy="1785938"/>
          </a:xfrm>
          <a:prstGeom prst="rect">
            <a:avLst/>
          </a:prstGeom>
          <a:solidFill>
            <a:srgbClr val="FFFFFF"/>
          </a:solidFill>
          <a:ln w="9144">
            <a:solidFill>
              <a:srgbClr val="CCCCCC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50" y="1337667"/>
            <a:ext cx="2857500" cy="164306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28659" y="3123605"/>
            <a:ext cx="140168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666666"/>
                </a:solidFill>
              </a:rPr>
              <a:t>Data Flow &amp; Repositories</a:t>
            </a:r>
            <a:endParaRPr lang="en-US" sz="68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2932733" cy="312539"/>
          </a:xfrm>
          <a:prstGeom prst="rect">
            <a:avLst/>
          </a:prstGeom>
          <a:noFill/>
          <a:ln/>
        </p:spPr>
        <p:txBody>
          <a:bodyPr wrap="none" lIns="0" tIns="0" rIns="170053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0000"/>
                </a:solidFill>
              </a:rPr>
              <a:t>Academic Assessment</a:t>
            </a:r>
            <a:endParaRPr lang="en-US" sz="1602" dirty="0"/>
          </a:p>
        </p:txBody>
      </p:sp>
      <p:sp>
        <p:nvSpPr>
          <p:cNvPr id="4" name="Text 1"/>
          <p:cNvSpPr/>
          <p:nvPr/>
        </p:nvSpPr>
        <p:spPr>
          <a:xfrm>
            <a:off x="428625" y="571500"/>
            <a:ext cx="3714750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kern="0" spc="-1" dirty="0">
                <a:solidFill>
                  <a:srgbClr val="0053B3"/>
                </a:solidFill>
              </a:rPr>
              <a:t>Strengths</a:t>
            </a:r>
            <a:endParaRPr lang="en-US" sz="2436" dirty="0"/>
          </a:p>
        </p:txBody>
      </p:sp>
      <p:sp>
        <p:nvSpPr>
          <p:cNvPr id="5" name="Text 2"/>
          <p:cNvSpPr/>
          <p:nvPr/>
        </p:nvSpPr>
        <p:spPr>
          <a:xfrm>
            <a:off x="614363" y="1537692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Developer Velocity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614363" y="1828800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0000">
                    <a:alpha val="90000"/>
                  </a:srgbClr>
                </a:solidFill>
              </a:rPr>
              <a:t>Sub-second Hot Reload cycles and a unified toolchain significantly reduce time-to-market.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614363" y="2403146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Soundness &amp; Safety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614363" y="2694254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0000">
                    <a:alpha val="90000"/>
                  </a:srgbClr>
                </a:solidFill>
              </a:rPr>
              <a:t>Mandatory null safety and a sound type system eliminate entire classes of runtime errors.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614363" y="3268600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Cohesive Ecosystem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614363" y="3559708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000000">
                    <a:alpha val="90000"/>
                  </a:srgbClr>
                </a:solidFill>
              </a:rPr>
              <a:t>A robust standard library and centralized package management (pub.dev) minimize dependency fatigue.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9"/>
          <p:cNvSpPr/>
          <p:nvPr/>
        </p:nvSpPr>
        <p:spPr>
          <a:xfrm>
            <a:off x="5000625" y="571500"/>
            <a:ext cx="3714750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kern="0" spc="-1" dirty="0">
                <a:solidFill>
                  <a:srgbClr val="FFFFFF"/>
                </a:solidFill>
              </a:rPr>
              <a:t>Weaknesses</a:t>
            </a:r>
            <a:endParaRPr lang="en-US" sz="2436" dirty="0"/>
          </a:p>
        </p:txBody>
      </p:sp>
      <p:sp>
        <p:nvSpPr>
          <p:cNvPr id="13" name="Text 10"/>
          <p:cNvSpPr/>
          <p:nvPr/>
        </p:nvSpPr>
        <p:spPr>
          <a:xfrm>
            <a:off x="5186363" y="1537692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Ecosystem Scale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5186363" y="1828800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5F5F5">
                    <a:alpha val="90000"/>
                  </a:srgbClr>
                </a:solidFill>
              </a:rPr>
              <a:t>While growing, the library selection remains smaller than the massive JavaScript/NPM ecosystem.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5186363" y="2403146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Rendering Overhead</a:t>
            </a:r>
            <a:endParaRPr lang="en-US" sz="1193" dirty="0"/>
          </a:p>
        </p:txBody>
      </p:sp>
      <p:sp>
        <p:nvSpPr>
          <p:cNvPr id="16" name="Text 13"/>
          <p:cNvSpPr/>
          <p:nvPr/>
        </p:nvSpPr>
        <p:spPr>
          <a:xfrm>
            <a:off x="5186363" y="2694254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5F5F5">
                    <a:alpha val="90000"/>
                  </a:srgbClr>
                </a:solidFill>
              </a:rPr>
              <a:t>Flutter's custom engine (Skia/Impeller) bypasses native UI, increasing binary size and initial load.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5186363" y="3268600"/>
            <a:ext cx="35290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5F5F5"/>
                </a:solidFill>
              </a:rPr>
              <a:t>Backend Adoption</a:t>
            </a:r>
            <a:endParaRPr lang="en-US" sz="1193" dirty="0"/>
          </a:p>
        </p:txBody>
      </p:sp>
      <p:sp>
        <p:nvSpPr>
          <p:cNvPr id="18" name="Text 15"/>
          <p:cNvSpPr/>
          <p:nvPr/>
        </p:nvSpPr>
        <p:spPr>
          <a:xfrm>
            <a:off x="5186363" y="3559708"/>
            <a:ext cx="35290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5F5F5">
                    <a:alpha val="90000"/>
                  </a:srgbClr>
                </a:solidFill>
              </a:rPr>
              <a:t>Limited market share in server-side development compared to established giants like Go or Node.js.</a:t>
            </a:r>
            <a:endParaRPr lang="en-US" sz="942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EDA5F243-31A3-C739-39F5-514347DEF015}"/>
              </a:ext>
            </a:extLst>
          </p:cNvPr>
          <p:cNvSpPr/>
          <p:nvPr/>
        </p:nvSpPr>
        <p:spPr>
          <a:xfrm>
            <a:off x="4036219" y="3786188"/>
            <a:ext cx="1071563" cy="1071563"/>
          </a:xfrm>
          <a:prstGeom prst="rect">
            <a:avLst/>
          </a:prstGeom>
          <a:solidFill>
            <a:srgbClr val="FFFFFF"/>
          </a:solidFill>
          <a:ln w="27432">
            <a:solidFill>
              <a:srgbClr val="0053B3"/>
            </a:solidFill>
            <a:prstDash val="solid"/>
          </a:ln>
        </p:spPr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5CBABFFC-BFAC-CEA5-9AFF-1D223D7265AD}"/>
              </a:ext>
            </a:extLst>
          </p:cNvPr>
          <p:cNvSpPr/>
          <p:nvPr/>
        </p:nvSpPr>
        <p:spPr>
          <a:xfrm>
            <a:off x="4036219" y="3786188"/>
            <a:ext cx="1071563" cy="1071563"/>
          </a:xfrm>
          <a:prstGeom prst="rect">
            <a:avLst/>
          </a:prstGeom>
          <a:solidFill>
            <a:srgbClr val="FFFFFF"/>
          </a:solidFill>
          <a:ln w="27432">
            <a:solidFill>
              <a:srgbClr val="0053B3"/>
            </a:solidFill>
            <a:prstDash val="solid"/>
          </a:ln>
        </p:spPr>
      </p:sp>
      <p:pic>
        <p:nvPicPr>
          <p:cNvPr id="23" name="Image 1">
            <a:extLst>
              <a:ext uri="{FF2B5EF4-FFF2-40B4-BE49-F238E27FC236}">
                <a16:creationId xmlns:a16="http://schemas.microsoft.com/office/drawing/2014/main" id="{9890C84D-BC31-8E73-5A92-93AC373CFE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143375" y="3893344"/>
            <a:ext cx="85725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40898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0000"/>
                </a:solidFill>
              </a:rPr>
              <a:t>Conclusion &amp; Future Outlook</a:t>
            </a:r>
            <a:endParaRPr lang="en-US" sz="2121" dirty="0"/>
          </a:p>
        </p:txBody>
      </p:sp>
      <p:sp>
        <p:nvSpPr>
          <p:cNvPr id="4" name="Text 1"/>
          <p:cNvSpPr/>
          <p:nvPr/>
        </p:nvSpPr>
        <p:spPr>
          <a:xfrm>
            <a:off x="571500" y="1123355"/>
            <a:ext cx="3786188" cy="3018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Summary</a:t>
            </a:r>
            <a:endParaRPr lang="en-US" sz="1397" dirty="0"/>
          </a:p>
        </p:txBody>
      </p:sp>
      <p:sp>
        <p:nvSpPr>
          <p:cNvPr id="5" name="Text 2"/>
          <p:cNvSpPr/>
          <p:nvPr/>
        </p:nvSpPr>
        <p:spPr>
          <a:xfrm>
            <a:off x="571500" y="1746647"/>
            <a:ext cx="37861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Strategic Pivot</a:t>
            </a:r>
            <a:endParaRPr lang="en-US" sz="987" dirty="0"/>
          </a:p>
        </p:txBody>
      </p:sp>
      <p:sp>
        <p:nvSpPr>
          <p:cNvPr id="6" name="Text 3"/>
          <p:cNvSpPr/>
          <p:nvPr/>
        </p:nvSpPr>
        <p:spPr>
          <a:xfrm>
            <a:off x="571500" y="1998464"/>
            <a:ext cx="378618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Dart successfully evolved from a controversial web experiment to a foundational pillar of modern cross-platform development.</a:t>
            </a:r>
            <a:endParaRPr lang="en-US" sz="942" dirty="0"/>
          </a:p>
        </p:txBody>
      </p:sp>
      <p:sp>
        <p:nvSpPr>
          <p:cNvPr id="7" name="Text 4"/>
          <p:cNvSpPr/>
          <p:nvPr/>
        </p:nvSpPr>
        <p:spPr>
          <a:xfrm>
            <a:off x="571500" y="2719983"/>
            <a:ext cx="37861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Identity Defined</a:t>
            </a:r>
            <a:endParaRPr lang="en-US" sz="987" dirty="0"/>
          </a:p>
        </p:txBody>
      </p:sp>
      <p:sp>
        <p:nvSpPr>
          <p:cNvPr id="8" name="Text 5"/>
          <p:cNvSpPr/>
          <p:nvPr/>
        </p:nvSpPr>
        <p:spPr>
          <a:xfrm>
            <a:off x="571500" y="2971800"/>
            <a:ext cx="378618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No longer just "Google's JS," but a robust, soundly-typed language prioritizing safety, portability, and developer velocity.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4786313" y="1123355"/>
            <a:ext cx="3786188" cy="3018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53B3"/>
                </a:solidFill>
              </a:rPr>
              <a:t>Future Outlook</a:t>
            </a:r>
            <a:endParaRPr lang="en-US" sz="1397" dirty="0"/>
          </a:p>
        </p:txBody>
      </p:sp>
      <p:sp>
        <p:nvSpPr>
          <p:cNvPr id="10" name="Text 7"/>
          <p:cNvSpPr/>
          <p:nvPr/>
        </p:nvSpPr>
        <p:spPr>
          <a:xfrm>
            <a:off x="4786313" y="1746647"/>
            <a:ext cx="37861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WebAssembly (Wasm)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4786313" y="1998464"/>
            <a:ext cx="378618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Native-level performance in the browser via WasmGC, finally bypassing the JavaScript bridge overhead.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4786313" y="2527102"/>
            <a:ext cx="37861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Full-Stack Unification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4786313" y="2778919"/>
            <a:ext cx="378618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Eliminating "cognitive switching" by utilizing a single language for both frontend and backend delivery pipelines.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0" y="4286250"/>
            <a:ext cx="9144000" cy="857250"/>
          </a:xfrm>
          <a:prstGeom prst="rect">
            <a:avLst/>
          </a:prstGeom>
          <a:solidFill>
            <a:srgbClr val="0053B3"/>
          </a:solidFill>
          <a:ln/>
        </p:spPr>
      </p:sp>
      <p:sp>
        <p:nvSpPr>
          <p:cNvPr id="15" name="Text 12"/>
          <p:cNvSpPr/>
          <p:nvPr/>
        </p:nvSpPr>
        <p:spPr>
          <a:xfrm>
            <a:off x="285750" y="4582018"/>
            <a:ext cx="857250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193" b="1" dirty="0">
                <a:solidFill>
                  <a:srgbClr val="FFFFFF"/>
                </a:solidFill>
              </a:rPr>
              <a:t>Dart is a battle-hardened, industrial-strength language ready for the next generation of high-performance applications.</a:t>
            </a:r>
            <a:endParaRPr lang="en-US" sz="119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1663</Words>
  <Application>Microsoft Office PowerPoint</Application>
  <PresentationFormat>On-screen Show (16:9)</PresentationFormat>
  <Paragraphs>226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Elias Madfouni</cp:lastModifiedBy>
  <cp:revision>2</cp:revision>
  <dcterms:created xsi:type="dcterms:W3CDTF">2026-01-25T14:31:44Z</dcterms:created>
  <dcterms:modified xsi:type="dcterms:W3CDTF">2026-01-25T18:48:51Z</dcterms:modified>
</cp:coreProperties>
</file>