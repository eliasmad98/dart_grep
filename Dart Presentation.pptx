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78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131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5862" y="593085"/>
            <a:ext cx="4914900" cy="2290371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3600" b="1" kern="0" spc="-2" dirty="0">
                <a:solidFill>
                  <a:srgbClr val="000000"/>
                </a:solidFill>
              </a:rPr>
              <a:t>Dart :</a:t>
            </a:r>
          </a:p>
          <a:p>
            <a:pPr>
              <a:lnSpc>
                <a:spcPts val="4500"/>
              </a:lnSpc>
            </a:pPr>
            <a:r>
              <a:rPr lang="en-US" sz="3600" b="1" kern="0" spc="-2" dirty="0">
                <a:solidFill>
                  <a:srgbClr val="000000"/>
                </a:solidFill>
              </a:rPr>
              <a:t>History, Design, and a</a:t>
            </a:r>
          </a:p>
          <a:p>
            <a:pPr>
              <a:lnSpc>
                <a:spcPts val="4500"/>
              </a:lnSpc>
            </a:pPr>
            <a:r>
              <a:rPr lang="en-US" sz="3600" b="1" kern="0" spc="-2" dirty="0">
                <a:solidFill>
                  <a:srgbClr val="000000"/>
                </a:solidFill>
              </a:rPr>
              <a:t>Recursive File Search Case Study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71500" y="3083198"/>
            <a:ext cx="3657600" cy="551433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1704" dirty="0">
                <a:solidFill>
                  <a:srgbClr val="333333"/>
                </a:solidFill>
              </a:rPr>
              <a:t>An Academic Seminar Programming Languages in Comparison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4422651"/>
            <a:ext cx="4914900" cy="168508"/>
          </a:xfrm>
          <a:prstGeom prst="rect">
            <a:avLst/>
          </a:prstGeom>
          <a:noFill/>
          <a:ln/>
        </p:spPr>
        <p:txBody>
          <a:bodyPr wrap="square" lIns="425196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987" b="1" kern="0" spc="2" dirty="0">
                <a:solidFill>
                  <a:srgbClr val="000000"/>
                </a:solidFill>
              </a:rPr>
              <a:t>Elias Madfouni | Siegen University |</a:t>
            </a:r>
            <a:r>
              <a:rPr lang="en-US" sz="1000" dirty="0">
                <a:solidFill>
                  <a:srgbClr val="333333"/>
                </a:solidFill>
              </a:rPr>
              <a:t>February 2026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7" name="Shape 4"/>
          <p:cNvSpPr/>
          <p:nvPr/>
        </p:nvSpPr>
        <p:spPr>
          <a:xfrm>
            <a:off x="6065044" y="1321594"/>
            <a:ext cx="2500313" cy="25003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B50E8EB3-1EBB-08ED-FA15-6104415F3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675" y="1418813"/>
            <a:ext cx="2289463" cy="22894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914900" cy="40898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The Identity of Dart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551980"/>
            <a:ext cx="393506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0053B3"/>
                </a:solidFill>
              </a:rPr>
              <a:t>Origin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723430"/>
            <a:ext cx="4486275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000000"/>
                </a:solidFill>
              </a:rPr>
              <a:t>Developed by Google (Lars Bak &amp; Kasper Lund) in 2011.</a:t>
            </a:r>
            <a:endParaRPr lang="en-US" sz="1159" dirty="0"/>
          </a:p>
        </p:txBody>
      </p:sp>
      <p:sp>
        <p:nvSpPr>
          <p:cNvPr id="6" name="Text 3"/>
          <p:cNvSpPr/>
          <p:nvPr/>
        </p:nvSpPr>
        <p:spPr>
          <a:xfrm>
            <a:off x="571500" y="2272047"/>
            <a:ext cx="684418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0053B3"/>
                </a:solidFill>
              </a:rPr>
              <a:t>Initial</a:t>
            </a:r>
            <a:r>
              <a:rPr lang="en-US" sz="683" b="1" kern="0" spc="1" dirty="0">
                <a:solidFill>
                  <a:srgbClr val="0053B3"/>
                </a:solidFill>
              </a:rPr>
              <a:t> </a:t>
            </a:r>
            <a:r>
              <a:rPr lang="en-US" sz="1200" b="1" kern="0" spc="1" dirty="0">
                <a:solidFill>
                  <a:srgbClr val="0053B3"/>
                </a:solidFill>
              </a:rPr>
              <a:t>Goal</a:t>
            </a:r>
          </a:p>
        </p:txBody>
      </p:sp>
      <p:sp>
        <p:nvSpPr>
          <p:cNvPr id="7" name="Text 4"/>
          <p:cNvSpPr/>
          <p:nvPr/>
        </p:nvSpPr>
        <p:spPr>
          <a:xfrm>
            <a:off x="571500" y="2443497"/>
            <a:ext cx="44862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000000"/>
                </a:solidFill>
              </a:rPr>
              <a:t>To replace JavaScript as the "structured" language for the web.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571500" y="3212120"/>
            <a:ext cx="1180644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900"/>
              </a:lnSpc>
            </a:pPr>
            <a:r>
              <a:rPr lang="en-US" sz="1200" b="1" kern="0" spc="1" dirty="0">
                <a:solidFill>
                  <a:srgbClr val="0053B3"/>
                </a:solidFill>
              </a:rPr>
              <a:t>The</a:t>
            </a:r>
            <a:r>
              <a:rPr lang="en-US" sz="683" b="1" kern="0" spc="1" dirty="0">
                <a:solidFill>
                  <a:srgbClr val="0053B3"/>
                </a:solidFill>
              </a:rPr>
              <a:t> </a:t>
            </a:r>
            <a:r>
              <a:rPr lang="en-US" sz="1200" b="1" kern="0" spc="1" dirty="0">
                <a:solidFill>
                  <a:srgbClr val="0053B3"/>
                </a:solidFill>
              </a:rPr>
              <a:t>Strategic Pivot</a:t>
            </a:r>
          </a:p>
        </p:txBody>
      </p:sp>
      <p:sp>
        <p:nvSpPr>
          <p:cNvPr id="9" name="Text 6"/>
          <p:cNvSpPr/>
          <p:nvPr/>
        </p:nvSpPr>
        <p:spPr>
          <a:xfrm>
            <a:off x="571500" y="3383570"/>
            <a:ext cx="4486275" cy="39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333333"/>
                </a:solidFill>
              </a:rPr>
              <a:t>Evolved from a web-only experiment to a "client-optimized" powerhouse. Now the primary engine behind the Flutter framework.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" y="4152193"/>
            <a:ext cx="905889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0053B3"/>
                </a:solidFill>
              </a:rPr>
              <a:t>Current</a:t>
            </a:r>
            <a:r>
              <a:rPr lang="en-US" sz="683" b="1" kern="0" spc="1" dirty="0">
                <a:solidFill>
                  <a:srgbClr val="0053B3"/>
                </a:solidFill>
              </a:rPr>
              <a:t> </a:t>
            </a:r>
            <a:r>
              <a:rPr lang="en-US" sz="1200" b="1" kern="0" spc="1" dirty="0">
                <a:solidFill>
                  <a:srgbClr val="0053B3"/>
                </a:solidFill>
              </a:rPr>
              <a:t>Status</a:t>
            </a:r>
          </a:p>
        </p:txBody>
      </p:sp>
      <p:sp>
        <p:nvSpPr>
          <p:cNvPr id="11" name="Text 8"/>
          <p:cNvSpPr/>
          <p:nvPr/>
        </p:nvSpPr>
        <p:spPr>
          <a:xfrm>
            <a:off x="571500" y="4323643"/>
            <a:ext cx="44862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000000"/>
                </a:solidFill>
              </a:rPr>
              <a:t>The engine behind </a:t>
            </a:r>
            <a:r>
              <a:rPr lang="en-US" sz="1090" b="1" dirty="0">
                <a:solidFill>
                  <a:srgbClr val="000000"/>
                </a:solidFill>
              </a:rPr>
              <a:t>Flutter</a:t>
            </a:r>
            <a:r>
              <a:rPr lang="en-US" sz="1159" dirty="0">
                <a:solidFill>
                  <a:srgbClr val="000000"/>
                </a:solidFill>
              </a:rPr>
              <a:t>, powering millions of cross-platform apps.</a:t>
            </a:r>
            <a:endParaRPr lang="en-US" sz="1159" dirty="0"/>
          </a:p>
        </p:txBody>
      </p:sp>
      <p:sp>
        <p:nvSpPr>
          <p:cNvPr id="12" name="Shape 9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13" name="Shape 10"/>
          <p:cNvSpPr/>
          <p:nvPr/>
        </p:nvSpPr>
        <p:spPr>
          <a:xfrm>
            <a:off x="6065044" y="1321594"/>
            <a:ext cx="2500313" cy="25003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638" y="1500188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979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572500" cy="4089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428625"/>
            <a:ext cx="107156" cy="40898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8572500" cy="40898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Historical Context: From "Dash" to Dart 3.0</a:t>
            </a:r>
            <a:endParaRPr lang="en-US" sz="2121" dirty="0"/>
          </a:p>
        </p:txBody>
      </p:sp>
      <p:sp>
        <p:nvSpPr>
          <p:cNvPr id="6" name="Shape 3"/>
          <p:cNvSpPr/>
          <p:nvPr/>
        </p:nvSpPr>
        <p:spPr>
          <a:xfrm>
            <a:off x="571500" y="1237655"/>
            <a:ext cx="3600450" cy="95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237655"/>
            <a:ext cx="3600450" cy="5715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8" name="Text 5"/>
          <p:cNvSpPr/>
          <p:nvPr/>
        </p:nvSpPr>
        <p:spPr>
          <a:xfrm>
            <a:off x="714375" y="1323380"/>
            <a:ext cx="3314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2011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14375" y="1585913"/>
            <a:ext cx="33147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The "Dash" Era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14375" y="1837730"/>
            <a:ext cx="3314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Unveiled at GOTO Aarhus. Born from a "crisis of scale" in web development (Gmail/Maps).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972050" y="2249165"/>
            <a:ext cx="3600450" cy="95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4972050" y="2249165"/>
            <a:ext cx="3600450" cy="5715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13" name="Text 10"/>
          <p:cNvSpPr/>
          <p:nvPr/>
        </p:nvSpPr>
        <p:spPr>
          <a:xfrm>
            <a:off x="5114925" y="2334890"/>
            <a:ext cx="3314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2011-2017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114925" y="2597423"/>
            <a:ext cx="33147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The "Dark Ages"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114925" y="2849240"/>
            <a:ext cx="3314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Browser vendors rejected the native VM; Google pivoted to compilation (dart2js) and ECMA standardization.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571500" y="3260675"/>
            <a:ext cx="3600450" cy="95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500" y="3260675"/>
            <a:ext cx="3600450" cy="5715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18" name="Text 15"/>
          <p:cNvSpPr/>
          <p:nvPr/>
        </p:nvSpPr>
        <p:spPr>
          <a:xfrm>
            <a:off x="714375" y="3346400"/>
            <a:ext cx="3314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2018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714375" y="3608933"/>
            <a:ext cx="33147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The Rebirth (Dart 2.0)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714375" y="3860750"/>
            <a:ext cx="3314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Shifted to a sound static type system. Aligned with the rise of Flutter for cross-platform UI.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4972050" y="4272186"/>
            <a:ext cx="3600450" cy="95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4972050" y="4272186"/>
            <a:ext cx="3600450" cy="5715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23" name="Text 20"/>
          <p:cNvSpPr/>
          <p:nvPr/>
        </p:nvSpPr>
        <p:spPr>
          <a:xfrm>
            <a:off x="5114925" y="4357911"/>
            <a:ext cx="33147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2023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5114925" y="4620444"/>
            <a:ext cx="33147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Modern Era (Dart 3.0)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114925" y="4872261"/>
            <a:ext cx="3314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Mandatory Sound Null Safety, WebAssembly (Wasm) support, and 100% soundness.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0898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Core Design: The Dual-Compilation Model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123355"/>
            <a:ext cx="1843088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JIT (Development)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984177"/>
            <a:ext cx="18430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Just-In-Time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2235994"/>
            <a:ext cx="18430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Used during the development cycle. Code is compiled on the fly within the Dart VM.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957513"/>
            <a:ext cx="18430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Hot Reload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3209330"/>
            <a:ext cx="1843088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Enables sub-second iteration by injecting source code changes into a running application without losing state.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2700338" y="1711821"/>
            <a:ext cx="3743325" cy="26003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53B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63" y="1797546"/>
            <a:ext cx="3571875" cy="25003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96937" y="4405015"/>
            <a:ext cx="23500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Visualizing Build Modes: Debug (JIT) vs. Release (AOT)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6715125" y="1123355"/>
            <a:ext cx="1857375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AOT (Production)</a:t>
            </a:r>
            <a:endParaRPr lang="en-US" sz="1397" dirty="0"/>
          </a:p>
        </p:txBody>
      </p:sp>
      <p:sp>
        <p:nvSpPr>
          <p:cNvPr id="13" name="Text 9"/>
          <p:cNvSpPr/>
          <p:nvPr/>
        </p:nvSpPr>
        <p:spPr>
          <a:xfrm>
            <a:off x="6715125" y="1984177"/>
            <a:ext cx="1857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Ahead-Of-Time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6715125" y="2235994"/>
            <a:ext cx="18573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Used for production deployment. Compiles code directly to native machine code (ARM/x64).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6715125" y="3150394"/>
            <a:ext cx="18573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Performance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6715125" y="3402211"/>
            <a:ext cx="185737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Eliminates VM warm-up time, ensuring fast startup and consistent runtime performance on user devices.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14688" cy="514350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1500"/>
            <a:ext cx="2500313" cy="848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The Modern
Type System
&amp; Null Safety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1848752"/>
            <a:ext cx="2500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5F5F5">
                    <a:alpha val="80000"/>
                  </a:srgbClr>
                </a:solidFill>
              </a:rPr>
              <a:t>Soundness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2020202"/>
            <a:ext cx="2500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Guaranteed types at runtime if static analysis passes.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428625" y="2663140"/>
            <a:ext cx="2500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5F5F5">
                    <a:alpha val="80000"/>
                  </a:srgbClr>
                </a:solidFill>
              </a:rPr>
              <a:t>Reified Generics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2834590"/>
            <a:ext cx="2500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Generic types are preserved and known at runtime.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3786188" y="571500"/>
            <a:ext cx="171126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Technical Impact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786188" y="1398389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Sound Null Safety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786188" y="1664494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Types are non-nullable by default, eliminating the "Billion Dollar Mistake" (Null Pointer Exceptions) at both compile and runtime.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786188" y="2300288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Compiler Optimizations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786188" y="2566392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Soundness allows the compiler to remove defensive runtime checks, leading to smaller binaries and faster execution.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786188" y="3202186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Type Inference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786188" y="3468291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Provides a balance between type safety and developer productivity, allowing for concise yet robust code.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0898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The Modern Type System &amp; Null Safety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66230"/>
            <a:ext cx="2400300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66230"/>
            <a:ext cx="2400300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480542"/>
            <a:ext cx="204311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Type
Soundness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50094" y="2063428"/>
            <a:ext cx="20431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Dart 2.0 introduced a </a:t>
            </a:r>
            <a:r>
              <a:rPr lang="en-US" sz="784" b="1" dirty="0">
                <a:solidFill>
                  <a:srgbClr val="333333"/>
                </a:solidFill>
              </a:rPr>
              <a:t>sound static type system</a:t>
            </a:r>
            <a:r>
              <a:rPr lang="en-US" sz="834" dirty="0">
                <a:solidFill>
                  <a:srgbClr val="333333"/>
                </a:solidFill>
              </a:rPr>
              <a:t>. If the static analyzer passes, the type is guaranteed at runtime.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50094" y="2892103"/>
            <a:ext cx="20431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Benefit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750094" y="3138562"/>
            <a:ext cx="20431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Enables the AOT compiler to generate highly optimized machine code by removing redundant runtime type checks.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3371850" y="1266230"/>
            <a:ext cx="2400300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371850" y="1266230"/>
            <a:ext cx="2400300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12" name="Text 9"/>
          <p:cNvSpPr/>
          <p:nvPr/>
        </p:nvSpPr>
        <p:spPr>
          <a:xfrm>
            <a:off x="3550444" y="1480542"/>
            <a:ext cx="204311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Reified
Generics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3550444" y="2063428"/>
            <a:ext cx="20431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Unlike Java's Type Erasure, Dart preserves generic types at runtime. A List&lt;String&gt; is known as such during execution.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3550444" y="2892103"/>
            <a:ext cx="20431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Advantage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550444" y="3138562"/>
            <a:ext cx="20431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Allows for robust runtime type checking (is List&lt;String&gt;) and specialized VM optimizations for specific types.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6172200" y="1266230"/>
            <a:ext cx="2400300" cy="32146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2200" y="1266230"/>
            <a:ext cx="2400300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18" name="Text 15"/>
          <p:cNvSpPr/>
          <p:nvPr/>
        </p:nvSpPr>
        <p:spPr>
          <a:xfrm>
            <a:off x="6350794" y="1480542"/>
            <a:ext cx="2043113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Sound Null
Safety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6350794" y="2063428"/>
            <a:ext cx="20431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Introduced in Dart 2.12, types are </a:t>
            </a:r>
            <a:r>
              <a:rPr lang="en-US" sz="784" b="1" dirty="0">
                <a:solidFill>
                  <a:srgbClr val="333333"/>
                </a:solidFill>
              </a:rPr>
              <a:t>non-nullable by default</a:t>
            </a:r>
            <a:r>
              <a:rPr lang="en-US" sz="834" dirty="0">
                <a:solidFill>
                  <a:srgbClr val="333333"/>
                </a:solidFill>
              </a:rPr>
              <a:t>. Nullability must be explicitly declared.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6350794" y="2684934"/>
            <a:ext cx="2043113" cy="3429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0794" y="2684934"/>
            <a:ext cx="28575" cy="3429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9"/>
          <p:cNvSpPr/>
          <p:nvPr/>
        </p:nvSpPr>
        <p:spPr>
          <a:xfrm>
            <a:off x="6350794" y="2684934"/>
            <a:ext cx="2043113" cy="342900"/>
          </a:xfrm>
          <a:prstGeom prst="rect">
            <a:avLst/>
          </a:prstGeom>
          <a:noFill/>
          <a:ln/>
        </p:spPr>
        <p:txBody>
          <a:bodyPr wrap="square" lIns="85090" tIns="85090" rIns="8509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000000"/>
                </a:solidFill>
              </a:rPr>
              <a:t>String name = 'Dart';
 String? nick; // Nullable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350794" y="3170709"/>
            <a:ext cx="20431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Impact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350794" y="3417168"/>
            <a:ext cx="20431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Eliminates "Billion Dollar Mistake" exceptions and allows the compiler to strip null-check overhead.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62915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Advanced Architecture:
Concurrency &amp; Startup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588759"/>
            <a:ext cx="462915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3B3"/>
                </a:solidFill>
              </a:rPr>
              <a:t>Isolates (Shared-Nothing)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874509"/>
            <a:ext cx="4629150" cy="385763"/>
          </a:xfrm>
          <a:prstGeom prst="rect">
            <a:avLst/>
          </a:prstGeom>
          <a:noFill/>
          <a:ln/>
        </p:spPr>
        <p:txBody>
          <a:bodyPr wrap="square" lIns="19558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Independent workers with their own memory heaps. Communication via message passing (Actor model) eliminates locks and data races.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474584"/>
            <a:ext cx="462915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3B3"/>
                </a:solidFill>
              </a:rPr>
              <a:t>The Event Loop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2760334"/>
            <a:ext cx="4629150" cy="385763"/>
          </a:xfrm>
          <a:prstGeom prst="rect">
            <a:avLst/>
          </a:prstGeom>
          <a:noFill/>
          <a:ln/>
        </p:spPr>
        <p:txBody>
          <a:bodyPr wrap="square" lIns="19558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Manages Microtask and Event queues. Ensures responsive I/O and UI by processing asynchronous events without blocking.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360409"/>
            <a:ext cx="462915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3B3"/>
                </a:solidFill>
              </a:rPr>
              <a:t>Heap Snapshotting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3646159"/>
            <a:ext cx="4629150" cy="385763"/>
          </a:xfrm>
          <a:prstGeom prst="rect">
            <a:avLst/>
          </a:prstGeom>
          <a:noFill/>
          <a:ln/>
        </p:spPr>
        <p:txBody>
          <a:bodyPr wrap="square" lIns="19558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Serializes the initialized object graph into a binary. Achieves </a:t>
            </a:r>
            <a:r>
              <a:rPr lang="en-US" sz="885" b="1" dirty="0">
                <a:solidFill>
                  <a:srgbClr val="333333"/>
                </a:solidFill>
              </a:rPr>
              <a:t>&lt; 10ms startup</a:t>
            </a:r>
            <a:r>
              <a:rPr lang="en-US" sz="942" dirty="0">
                <a:solidFill>
                  <a:srgbClr val="333333"/>
                </a:solidFill>
              </a:rPr>
              <a:t> by map-copying snapshots directly to RAM.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600700" y="857250"/>
            <a:ext cx="2857500" cy="2143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53B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138" y="928688"/>
            <a:ext cx="2714625" cy="2000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3107531"/>
            <a:ext cx="30861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Visualizing the underlying compilation architecture supporting rapid startup.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0898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Comparative Analysis: Dart vs. Peers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66230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66230"/>
            <a:ext cx="2524116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480542"/>
            <a:ext cx="216692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vs.
JavaScript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50094" y="2063428"/>
            <a:ext cx="2166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Type System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750094" y="2234878"/>
            <a:ext cx="21669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Sound Static </a:t>
            </a:r>
            <a:r>
              <a:rPr lang="en-US" sz="885" b="1" dirty="0">
                <a:solidFill>
                  <a:srgbClr val="0053B3"/>
                </a:solidFill>
              </a:rPr>
              <a:t>vs</a:t>
            </a:r>
            <a:r>
              <a:rPr lang="en-US" sz="942" dirty="0">
                <a:solidFill>
                  <a:srgbClr val="333333"/>
                </a:solidFill>
              </a:rPr>
              <a:t> Dynamic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50094" y="2636351"/>
            <a:ext cx="2166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Runtime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750094" y="2807801"/>
            <a:ext cx="21669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Independent VM/AOT </a:t>
            </a:r>
            <a:r>
              <a:rPr lang="en-US" sz="885" b="1" dirty="0">
                <a:solidFill>
                  <a:srgbClr val="0053B3"/>
                </a:solidFill>
              </a:rPr>
              <a:t>vs</a:t>
            </a:r>
            <a:r>
              <a:rPr lang="en-US" sz="942" dirty="0">
                <a:solidFill>
                  <a:srgbClr val="333333"/>
                </a:solidFill>
              </a:rPr>
              <a:t> Browser JIT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750094" y="3389291"/>
            <a:ext cx="2166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Ecosystem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750094" y="3560741"/>
            <a:ext cx="21669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Curated (Pub) </a:t>
            </a:r>
            <a:r>
              <a:rPr lang="en-US" sz="885" b="1" dirty="0">
                <a:solidFill>
                  <a:srgbClr val="0053B3"/>
                </a:solidFill>
              </a:rPr>
              <a:t>vs</a:t>
            </a:r>
            <a:r>
              <a:rPr lang="en-US" sz="942" dirty="0">
                <a:solidFill>
                  <a:srgbClr val="333333"/>
                </a:solidFill>
              </a:rPr>
              <a:t> Massive (NPM)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3309928" y="1266230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309928" y="1266230"/>
            <a:ext cx="2524116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15" name="Text 12"/>
          <p:cNvSpPr/>
          <p:nvPr/>
        </p:nvSpPr>
        <p:spPr>
          <a:xfrm>
            <a:off x="3488522" y="1480542"/>
            <a:ext cx="216692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vs.
Java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3488522" y="2063428"/>
            <a:ext cx="2166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Generics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3488522" y="2234878"/>
            <a:ext cx="21669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Reified </a:t>
            </a:r>
            <a:r>
              <a:rPr lang="en-US" sz="885" b="1" dirty="0">
                <a:solidFill>
                  <a:srgbClr val="0053B3"/>
                </a:solidFill>
              </a:rPr>
              <a:t>vs</a:t>
            </a:r>
            <a:r>
              <a:rPr lang="en-US" sz="942" dirty="0">
                <a:solidFill>
                  <a:srgbClr val="333333"/>
                </a:solidFill>
              </a:rPr>
              <a:t> Erasure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488522" y="2636351"/>
            <a:ext cx="2166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Syntax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3488522" y="2807801"/>
            <a:ext cx="21669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Concise/Inferred </a:t>
            </a:r>
            <a:r>
              <a:rPr lang="en-US" sz="885" b="1" dirty="0">
                <a:solidFill>
                  <a:srgbClr val="0053B3"/>
                </a:solidFill>
              </a:rPr>
              <a:t>vs</a:t>
            </a:r>
            <a:r>
              <a:rPr lang="en-US" sz="942" dirty="0">
                <a:solidFill>
                  <a:srgbClr val="333333"/>
                </a:solidFill>
              </a:rPr>
              <a:t> Verbose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488522" y="3209274"/>
            <a:ext cx="2166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Null Safety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3488522" y="3380724"/>
            <a:ext cx="21669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Sound/Built-in </a:t>
            </a:r>
            <a:r>
              <a:rPr lang="en-US" sz="885" b="1" dirty="0">
                <a:solidFill>
                  <a:srgbClr val="0053B3"/>
                </a:solidFill>
              </a:rPr>
              <a:t>vs</a:t>
            </a:r>
            <a:r>
              <a:rPr lang="en-US" sz="942" dirty="0">
                <a:solidFill>
                  <a:srgbClr val="333333"/>
                </a:solidFill>
              </a:rPr>
              <a:t> Optional/Annotations</a:t>
            </a:r>
            <a:endParaRPr lang="en-US" sz="942" dirty="0"/>
          </a:p>
        </p:txBody>
      </p:sp>
      <p:sp>
        <p:nvSpPr>
          <p:cNvPr id="22" name="Shape 19"/>
          <p:cNvSpPr/>
          <p:nvPr/>
        </p:nvSpPr>
        <p:spPr>
          <a:xfrm>
            <a:off x="6048356" y="1266230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6048356" y="1266230"/>
            <a:ext cx="2524116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24" name="Text 21"/>
          <p:cNvSpPr/>
          <p:nvPr/>
        </p:nvSpPr>
        <p:spPr>
          <a:xfrm>
            <a:off x="6226950" y="1480542"/>
            <a:ext cx="216692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vs.
Python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6226950" y="2063428"/>
            <a:ext cx="2166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Performance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226950" y="2234878"/>
            <a:ext cx="21669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AOT Native </a:t>
            </a:r>
            <a:r>
              <a:rPr lang="en-US" sz="885" b="1" dirty="0">
                <a:solidFill>
                  <a:srgbClr val="0053B3"/>
                </a:solidFill>
              </a:rPr>
              <a:t>vs</a:t>
            </a:r>
            <a:r>
              <a:rPr lang="en-US" sz="942" dirty="0">
                <a:solidFill>
                  <a:srgbClr val="333333"/>
                </a:solidFill>
              </a:rPr>
              <a:t> Interpreted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6226950" y="2636351"/>
            <a:ext cx="2166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Safety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6226950" y="2807801"/>
            <a:ext cx="21669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Compile-time </a:t>
            </a:r>
            <a:r>
              <a:rPr lang="en-US" sz="885" b="1" dirty="0">
                <a:solidFill>
                  <a:srgbClr val="0053B3"/>
                </a:solidFill>
              </a:rPr>
              <a:t>vs</a:t>
            </a:r>
            <a:r>
              <a:rPr lang="en-US" sz="942" dirty="0">
                <a:solidFill>
                  <a:srgbClr val="333333"/>
                </a:solidFill>
              </a:rPr>
              <a:t> Runtime Discovery</a:t>
            </a:r>
            <a:endParaRPr lang="en-US" sz="942" dirty="0"/>
          </a:p>
        </p:txBody>
      </p:sp>
      <p:sp>
        <p:nvSpPr>
          <p:cNvPr id="29" name="Text 26"/>
          <p:cNvSpPr/>
          <p:nvPr/>
        </p:nvSpPr>
        <p:spPr>
          <a:xfrm>
            <a:off x="6226950" y="3389291"/>
            <a:ext cx="21669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66666"/>
                </a:solidFill>
              </a:rPr>
              <a:t>Concurrency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6226950" y="3560741"/>
            <a:ext cx="21669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Isolates </a:t>
            </a:r>
            <a:r>
              <a:rPr lang="en-US" sz="885" b="1" dirty="0">
                <a:solidFill>
                  <a:srgbClr val="0053B3"/>
                </a:solidFill>
              </a:rPr>
              <a:t>vs</a:t>
            </a:r>
            <a:r>
              <a:rPr lang="en-US" sz="942" dirty="0">
                <a:solidFill>
                  <a:srgbClr val="333333"/>
                </a:solidFill>
              </a:rPr>
              <a:t> GIL/Threads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0898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Memory Management: Generational GC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66230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66230"/>
            <a:ext cx="2524116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480542"/>
            <a:ext cx="216692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Young Space
(Scavenger)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50094" y="2063428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Fast Allocation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50094" y="2295599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Uses bump pointers for near-instant allocation. Optimized for short-lived objects like UI widgets.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750094" y="2952824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Efficient Collection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50094" y="3184996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Only survives objects are copied, making it extremely fast for typical client-side workloads.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3309928" y="1266230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309928" y="1266230"/>
            <a:ext cx="2524116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13" name="Text 10"/>
          <p:cNvSpPr/>
          <p:nvPr/>
        </p:nvSpPr>
        <p:spPr>
          <a:xfrm>
            <a:off x="3488522" y="1480542"/>
            <a:ext cx="216692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Old Space
(Mark-Compact)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3488522" y="2063428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Long-Lived Objects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488522" y="2295599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Handles objects that survive multiple scavenger cycles. Uses mark-sweep and mark-compact strategies.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488522" y="2952824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Fragmentation Control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488522" y="3184996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Compaction ensures memory remains contiguous, preventing fragmentation in long-running applications.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6048356" y="1266230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048356" y="1266230"/>
            <a:ext cx="2524116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20" name="Text 17"/>
          <p:cNvSpPr/>
          <p:nvPr/>
        </p:nvSpPr>
        <p:spPr>
          <a:xfrm>
            <a:off x="6226950" y="1480542"/>
            <a:ext cx="216692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Canonical
Instances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6226950" y="2063428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Memory Optimization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6226950" y="2295599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const constructors allow identical objects to share a single memory location.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6226950" y="2952824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GC Pressure Reduction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226950" y="3184996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Dramatically reduces the number of objects the GC needs to track in high-frequency rendering scenarios.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571500" y="4552355"/>
            <a:ext cx="8001000" cy="57150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26" name="Text 23"/>
          <p:cNvSpPr/>
          <p:nvPr/>
        </p:nvSpPr>
        <p:spPr>
          <a:xfrm>
            <a:off x="785813" y="4729525"/>
            <a:ext cx="75723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Unified Strategy:</a:t>
            </a:r>
            <a:r>
              <a:rPr lang="en-US" sz="942" dirty="0">
                <a:solidFill>
                  <a:srgbClr val="FFFFFF"/>
                </a:solidFill>
              </a:rPr>
              <a:t> Dart's GC is specifically tuned for the high-frequency object creation patterns of modern reactive UI frameworks.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0898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Infrastructure &amp; Ecosystem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66230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66230"/>
            <a:ext cx="2524116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480542"/>
            <a:ext cx="216692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Pub
Package Manager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50094" y="2063428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Centralized Repository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50094" y="2295599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pub.dev hosts 55,000+ packages. Uses semantic versioning via pubspec.yaml.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750094" y="2781374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Pub Points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50094" y="3013546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Automated scoring system for code quality, documentation, and platform support.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3309928" y="1266230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309928" y="1266230"/>
            <a:ext cx="2524116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13" name="Text 10"/>
          <p:cNvSpPr/>
          <p:nvPr/>
        </p:nvSpPr>
        <p:spPr>
          <a:xfrm>
            <a:off x="3488522" y="1480542"/>
            <a:ext cx="216692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Analysis
Server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3488522" y="2063428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SDK-Level Intelligence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488522" y="2295599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Language logic lives in the SDK, not the IDE plugin. Uses LSP for communication.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488522" y="2952824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Consistency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488522" y="3184996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Identical refactoring and error highlighting across VS Code, IntelliJ, and Android Studio.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6048356" y="1266230"/>
            <a:ext cx="2524116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048356" y="1266230"/>
            <a:ext cx="2524116" cy="85725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20" name="Text 17"/>
          <p:cNvSpPr/>
          <p:nvPr/>
        </p:nvSpPr>
        <p:spPr>
          <a:xfrm>
            <a:off x="6226950" y="1480542"/>
            <a:ext cx="216692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Dart
DevTools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6226950" y="2063428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Performance Suite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6226950" y="2295599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Browser-based tools connecting via the VM Service Protocol.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6226950" y="2781374"/>
            <a:ext cx="21669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</a:rPr>
              <a:t>Core Features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226950" y="3013546"/>
            <a:ext cx="216692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CPU Profiler, Memory View (Heap Snapshots), and the Flutter Widget Inspector.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571500" y="4552355"/>
            <a:ext cx="8001000" cy="57150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26" name="Text 23"/>
          <p:cNvSpPr/>
          <p:nvPr/>
        </p:nvSpPr>
        <p:spPr>
          <a:xfrm>
            <a:off x="785813" y="4729525"/>
            <a:ext cx="75723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Unified Toolchain:</a:t>
            </a:r>
            <a:r>
              <a:rPr lang="en-US" sz="942" dirty="0">
                <a:solidFill>
                  <a:srgbClr val="FFFFFF"/>
                </a:solidFill>
              </a:rPr>
              <a:t> Dart provides a "complete" experience where the compiler, package manager, and analyzer are tightly integrated.</a:t>
            </a:r>
            <a:endParaRPr lang="en-US" sz="8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14688" cy="514350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1500"/>
            <a:ext cx="2500313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Case Study:
Recursive
File Searcher
(Grep Clone)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2131628"/>
            <a:ext cx="2500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5F5F5">
                    <a:alpha val="80000"/>
                  </a:srgbClr>
                </a:solidFill>
              </a:rPr>
              <a:t>Objective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2303078"/>
            <a:ext cx="25003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Evaluate Dart for high-performance CLI tasks typically reserved for C++ or Rust.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428625" y="3160328"/>
            <a:ext cx="2500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5F5F5">
                    <a:alpha val="80000"/>
                  </a:srgbClr>
                </a:solidFill>
              </a:rPr>
              <a:t>Constraint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3331778"/>
            <a:ext cx="25003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Zero external dependencies; rely solely on the standard library.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3786188" y="571500"/>
            <a:ext cx="328997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Architecture: Streaming Pipeline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786188" y="1398389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Asynchronous Recursion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786188" y="1664494"/>
            <a:ext cx="4786313" cy="5786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Utilizes dir.list() returning a Stream&lt;FileSystemEntity&gt;. Non-blocking traversal ensures the event loop remains responsive during heavy I/O.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786188" y="2493169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Memory Safety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786188" y="2759273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Processes multi-gigabyte files in 64KB chunks. Discards strings immediately after regex matching to maintain a constant footprint.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3786188" y="3430786"/>
            <a:ext cx="2085082" cy="7143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964781" y="3573661"/>
            <a:ext cx="172789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3B3"/>
                </a:solidFill>
              </a:rPr>
              <a:t>30-50MB RAM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3964781" y="3886200"/>
            <a:ext cx="17278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FFFFFF"/>
                </a:solidFill>
              </a:rPr>
              <a:t>Constant Memory Footprint</a:t>
            </a:r>
            <a:endParaRPr lang="en-US" sz="72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14688" cy="514350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1500"/>
            <a:ext cx="2500313" cy="848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Implementation:
What Helped
Us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1848752"/>
            <a:ext cx="2500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5F5F5">
                    <a:alpha val="80000"/>
                  </a:srgbClr>
                </a:solidFill>
              </a:rPr>
              <a:t>Async Primitives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2020202"/>
            <a:ext cx="2500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async/await and Stream made non-blocking I/O trivial.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428625" y="2663140"/>
            <a:ext cx="2500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5F5F5">
                    <a:alpha val="80000"/>
                  </a:srgbClr>
                </a:solidFill>
              </a:rPr>
              <a:t>Standard Library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2834590"/>
            <a:ext cx="25003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dart:io and dart:convert provided 100% of required functionality.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3786188" y="571500"/>
            <a:ext cx="171126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Technical Impact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786188" y="1398389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Sound Type System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786188" y="1664494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Caught nullable file handling and type mismatches during development, significantly reducing runtime debugging cycles.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786188" y="2300288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RegExp Support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786188" y="2566392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Powerful, built-in regular expression engine with easy case-sensitivity control, enabling high-performance pattern matching.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786188" y="3202186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Zero Dependencies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786188" y="3468291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"batteries-included" nature of the SDK allowed for a self-contained binary without external package fatigue.</a:t>
            </a:r>
            <a:endParaRPr lang="en-US" sz="94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136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14688" cy="5211366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71500"/>
            <a:ext cx="2500313" cy="848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Implementation:
Challenges
&amp; Lessons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428625" y="1848752"/>
            <a:ext cx="2500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5F5F5">
                    <a:alpha val="80000"/>
                  </a:srgbClr>
                </a:solidFill>
              </a:rPr>
              <a:t>Encoding Hurdles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2020202"/>
            <a:ext cx="2500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Handling non-UTF8 bytes in "mostly text" files.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428625" y="2663140"/>
            <a:ext cx="2500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5F5F5">
                    <a:alpha val="80000"/>
                  </a:srgbClr>
                </a:solidFill>
              </a:rPr>
              <a:t>Binary Detection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2834590"/>
            <a:ext cx="25003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Avoiding terminal flooding with "garbage" output.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3786188" y="571500"/>
            <a:ext cx="478631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Technical Lessons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3786188" y="1398389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Robust File Reading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786188" y="1664494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Utilizing allowMalformed: true in Utf8Decoder was critical to prevent crashes on mixed-content directories.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786188" y="2300288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Performance Tuning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786188" y="2566392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RegExp instantiation must occur outside loops to avoid massive overhead. Skipping minified files via MAX_LINE_LENGTH ensured high throughput.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786188" y="3202186"/>
            <a:ext cx="47863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Graceful Exit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786188" y="3468291"/>
            <a:ext cx="4786313" cy="3857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Handling FileSystemException for closed output pipes (e.g., grep | head) is essential for a professional CLI experience.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7500938" y="3854053"/>
            <a:ext cx="1071563" cy="1071563"/>
          </a:xfrm>
          <a:prstGeom prst="rect">
            <a:avLst/>
          </a:prstGeom>
          <a:solidFill>
            <a:srgbClr val="FFFFFF"/>
          </a:solidFill>
          <a:ln w="27432">
            <a:solidFill>
              <a:srgbClr val="0053B3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094" y="3961209"/>
            <a:ext cx="8572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629150" cy="990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Implementation Highlights
&amp; Optimization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918795"/>
            <a:ext cx="462915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3B3"/>
                </a:solidFill>
              </a:rPr>
              <a:t>Binary Detection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2204545"/>
            <a:ext cx="4629150" cy="385763"/>
          </a:xfrm>
          <a:prstGeom prst="rect">
            <a:avLst/>
          </a:prstGeom>
          <a:noFill/>
          <a:ln/>
        </p:spPr>
        <p:txBody>
          <a:bodyPr wrap="square" lIns="19558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Heuristic check (first 8KB) for null bytes to avoid terminal "garbage" output. Ensures robust handling of mixed-content directories.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804620"/>
            <a:ext cx="462915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3B3"/>
                </a:solidFill>
              </a:rPr>
              <a:t>Regex Pre-compilation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3090370"/>
            <a:ext cx="4629150" cy="385763"/>
          </a:xfrm>
          <a:prstGeom prst="rect">
            <a:avLst/>
          </a:prstGeom>
          <a:noFill/>
          <a:ln/>
        </p:spPr>
        <p:txBody>
          <a:bodyPr wrap="square" lIns="19558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Massive speedup by instantiating RegExp outside loops. Leverages Dart's optimized regex engine for high-throughput matching.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690445"/>
            <a:ext cx="4629150" cy="21431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3B3"/>
                </a:solidFill>
              </a:rPr>
              <a:t>AOT Performance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3976195"/>
            <a:ext cx="4629150" cy="385763"/>
          </a:xfrm>
          <a:prstGeom prst="rect">
            <a:avLst/>
          </a:prstGeom>
          <a:noFill/>
          <a:ln/>
        </p:spPr>
        <p:txBody>
          <a:bodyPr wrap="square" lIns="19558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Native binary execution with </a:t>
            </a:r>
            <a:r>
              <a:rPr lang="en-US" sz="885" b="1" dirty="0">
                <a:solidFill>
                  <a:srgbClr val="333333"/>
                </a:solidFill>
              </a:rPr>
              <a:t>&lt; 10ms startup</a:t>
            </a:r>
            <a:r>
              <a:rPr lang="en-US" sz="942" dirty="0">
                <a:solidFill>
                  <a:srgbClr val="333333"/>
                </a:solidFill>
              </a:rPr>
              <a:t>. Eliminates VM warm-up overhead, making Dart viable for high-performance CLI tools.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600700" y="857250"/>
            <a:ext cx="2857500" cy="2143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053B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138" y="928688"/>
            <a:ext cx="2714625" cy="2000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40422" y="3107531"/>
            <a:ext cx="25780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Visualizing the AOT compilation process to native binaries.</a:t>
            </a:r>
            <a:endParaRPr lang="en-US" sz="72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0898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Industry Adoption &amp; Use Cases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337667"/>
            <a:ext cx="2500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Google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628775"/>
            <a:ext cx="25003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Google Ads, Play Console, and Nest Hub setup. Mission-critical internal and external tools.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383138"/>
            <a:ext cx="2500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BMW Group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674246"/>
            <a:ext cx="25003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Unified companion app across iOS and Android, ensuring 100% brand consistency and feature parity.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428609"/>
            <a:ext cx="25003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3B3"/>
                </a:solidFill>
              </a:rPr>
              <a:t>Alibaba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3719717"/>
            <a:ext cx="25003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Xianyu (Idle Fish) app serving 50M+ users. High-performance rendering for e-commerce.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3357563" y="1266230"/>
            <a:ext cx="2286000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37667"/>
            <a:ext cx="2143125" cy="30718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6916" y="4552355"/>
            <a:ext cx="12072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Layered Architecture</a:t>
            </a:r>
            <a:endParaRPr lang="en-US" sz="683" dirty="0"/>
          </a:p>
        </p:txBody>
      </p:sp>
      <p:sp>
        <p:nvSpPr>
          <p:cNvPr id="13" name="Shape 9"/>
          <p:cNvSpPr/>
          <p:nvPr/>
        </p:nvSpPr>
        <p:spPr>
          <a:xfrm>
            <a:off x="5929313" y="1266230"/>
            <a:ext cx="3000375" cy="1785938"/>
          </a:xfrm>
          <a:prstGeom prst="rect">
            <a:avLst/>
          </a:prstGeom>
          <a:solidFill>
            <a:srgbClr val="FFFFFF"/>
          </a:solidFill>
          <a:ln w="9144">
            <a:solidFill>
              <a:srgbClr val="CCCCC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1337667"/>
            <a:ext cx="2857500" cy="164306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8659" y="3123605"/>
            <a:ext cx="14016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66666"/>
                </a:solidFill>
              </a:rPr>
              <a:t>Data Flow &amp; Repositories</a:t>
            </a:r>
            <a:endParaRPr lang="en-US" sz="68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2932733" cy="31253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0000"/>
                </a:solidFill>
              </a:rPr>
              <a:t>Academic Assessment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571500"/>
            <a:ext cx="3714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0053B3"/>
                </a:solidFill>
              </a:rPr>
              <a:t>Strengths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614363" y="1537692"/>
            <a:ext cx="35290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Developer Velocity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14363" y="1828800"/>
            <a:ext cx="35290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>
                    <a:alpha val="90000"/>
                  </a:srgbClr>
                </a:solidFill>
              </a:rPr>
              <a:t>Sub-second Hot Reload cycles and a unified toolchain significantly reduce time-to-market.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614363" y="2403146"/>
            <a:ext cx="35290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Soundness &amp; Safety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14363" y="2694254"/>
            <a:ext cx="35290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>
                    <a:alpha val="90000"/>
                  </a:srgbClr>
                </a:solidFill>
              </a:rPr>
              <a:t>Mandatory null safety and a sound type system eliminate entire classes of runtime errors.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614363" y="3268600"/>
            <a:ext cx="35290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</a:rPr>
              <a:t>Cohesive Ecosystem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614363" y="3559708"/>
            <a:ext cx="35290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000000">
                    <a:alpha val="90000"/>
                  </a:srgbClr>
                </a:solidFill>
              </a:rPr>
              <a:t>A robust standard library and centralized package management (pub.dev) minimize dependency fatigue.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2" name="Text 9"/>
          <p:cNvSpPr/>
          <p:nvPr/>
        </p:nvSpPr>
        <p:spPr>
          <a:xfrm>
            <a:off x="5000625" y="571500"/>
            <a:ext cx="3714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FFFFFF"/>
                </a:solidFill>
              </a:rPr>
              <a:t>Weaknesses</a:t>
            </a:r>
            <a:endParaRPr lang="en-US" sz="2436" dirty="0"/>
          </a:p>
        </p:txBody>
      </p:sp>
      <p:sp>
        <p:nvSpPr>
          <p:cNvPr id="13" name="Text 10"/>
          <p:cNvSpPr/>
          <p:nvPr/>
        </p:nvSpPr>
        <p:spPr>
          <a:xfrm>
            <a:off x="5186363" y="1537692"/>
            <a:ext cx="35290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Ecosystem Scale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5186363" y="1828800"/>
            <a:ext cx="35290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5F5F5">
                    <a:alpha val="90000"/>
                  </a:srgbClr>
                </a:solidFill>
              </a:rPr>
              <a:t>While growing, the library selection remains smaller than the massive JavaScript/NPM ecosystem.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186363" y="2403146"/>
            <a:ext cx="35290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Rendering Overhead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186363" y="2694254"/>
            <a:ext cx="35290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5F5F5">
                    <a:alpha val="90000"/>
                  </a:srgbClr>
                </a:solidFill>
              </a:rPr>
              <a:t>Flutter's custom engine (Skia/Impeller) bypasses native UI, increasing binary size and initial load.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186363" y="3268600"/>
            <a:ext cx="35290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5F5F5"/>
                </a:solidFill>
              </a:rPr>
              <a:t>Backend Adoption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5186363" y="3559708"/>
            <a:ext cx="35290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5F5F5">
                    <a:alpha val="90000"/>
                  </a:srgbClr>
                </a:solidFill>
              </a:rPr>
              <a:t>Limited market share in server-side development compared to established giants like Go or Node.js.</a:t>
            </a:r>
            <a:endParaRPr lang="en-US" sz="942" dirty="0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EDA5F243-31A3-C739-39F5-514347DEF015}"/>
              </a:ext>
            </a:extLst>
          </p:cNvPr>
          <p:cNvSpPr/>
          <p:nvPr/>
        </p:nvSpPr>
        <p:spPr>
          <a:xfrm>
            <a:off x="4036219" y="3786188"/>
            <a:ext cx="1071563" cy="1071563"/>
          </a:xfrm>
          <a:prstGeom prst="rect">
            <a:avLst/>
          </a:prstGeom>
          <a:solidFill>
            <a:srgbClr val="FFFFFF"/>
          </a:solidFill>
          <a:ln w="27432">
            <a:solidFill>
              <a:srgbClr val="0053B3"/>
            </a:solidFill>
            <a:prstDash val="solid"/>
          </a:ln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5CBABFFC-BFAC-CEA5-9AFF-1D223D7265AD}"/>
              </a:ext>
            </a:extLst>
          </p:cNvPr>
          <p:cNvSpPr/>
          <p:nvPr/>
        </p:nvSpPr>
        <p:spPr>
          <a:xfrm>
            <a:off x="4036219" y="3786188"/>
            <a:ext cx="1071563" cy="1071563"/>
          </a:xfrm>
          <a:prstGeom prst="rect">
            <a:avLst/>
          </a:prstGeom>
          <a:solidFill>
            <a:srgbClr val="FFFFFF"/>
          </a:solidFill>
          <a:ln w="27432">
            <a:solidFill>
              <a:srgbClr val="0053B3"/>
            </a:solidFill>
            <a:prstDash val="solid"/>
          </a:ln>
        </p:spPr>
      </p:sp>
      <p:pic>
        <p:nvPicPr>
          <p:cNvPr id="23" name="Image 1">
            <a:extLst>
              <a:ext uri="{FF2B5EF4-FFF2-40B4-BE49-F238E27FC236}">
                <a16:creationId xmlns:a16="http://schemas.microsoft.com/office/drawing/2014/main" id="{9890C84D-BC31-8E73-5A92-93AC373CFE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143375" y="3893344"/>
            <a:ext cx="8572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0898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000000"/>
                </a:solidFill>
              </a:rPr>
              <a:t>Conclusion &amp; Future Outlook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123355"/>
            <a:ext cx="3786188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Summary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746647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Strategic Pivot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998464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Dart successfully evolved from a controversial web experiment to a foundational pillar of modern cross-platform development.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719983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Identity Defined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971800"/>
            <a:ext cx="37861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No longer just "Google's JS," but a robust, soundly-typed language prioritizing safety, portability, and developer velocity.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786313" y="1123355"/>
            <a:ext cx="3786188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3B3"/>
                </a:solidFill>
              </a:rPr>
              <a:t>Future Outlook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4786313" y="1746647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WebAssembly (Wasm)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786313" y="1998464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Native-level performance in the browser via WasmGC, finally bypassing the JavaScript bridge overhead.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786313" y="2527102"/>
            <a:ext cx="37861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Full-Stack Unification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786313" y="2778919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Eliminating "cognitive switching" by utilizing a single language for both frontend and backend delivery pipelines.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0053B3"/>
          </a:solidFill>
          <a:ln/>
        </p:spPr>
      </p:sp>
      <p:sp>
        <p:nvSpPr>
          <p:cNvPr id="15" name="Text 12"/>
          <p:cNvSpPr/>
          <p:nvPr/>
        </p:nvSpPr>
        <p:spPr>
          <a:xfrm>
            <a:off x="285750" y="4582018"/>
            <a:ext cx="857250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Dart is a battle-hardened, industrial-strength language ready for the next generation of high-performance applications.</a:t>
            </a:r>
            <a:endParaRPr lang="en-US" sz="119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1663</Words>
  <Application>Microsoft Office PowerPoint</Application>
  <PresentationFormat>On-screen Show (16:9)</PresentationFormat>
  <Paragraphs>226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Elias Madfouni</cp:lastModifiedBy>
  <cp:revision>2</cp:revision>
  <dcterms:created xsi:type="dcterms:W3CDTF">2026-01-25T14:31:44Z</dcterms:created>
  <dcterms:modified xsi:type="dcterms:W3CDTF">2026-01-25T19:04:11Z</dcterms:modified>
</cp:coreProperties>
</file>